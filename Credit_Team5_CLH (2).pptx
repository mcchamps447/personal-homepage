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comments/modernComment_135_5316EB76.xml" ContentType="application/vnd.ms-powerpoint.comments+xml"/>
  <Override PartName="/ppt/comments/modernComment_111_6AE4E6FD.xml" ContentType="application/vnd.ms-powerpoint.comment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omments/modernComment_127_5E723495.xml" ContentType="application/vnd.ms-powerpoint.comment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20_3F823182.xml" ContentType="application/vnd.ms-powerpoint.comment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1C_737EEEC6.xml" ContentType="application/vnd.ms-powerpoint.comment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omments/modernComment_136_666AF01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35"/>
  </p:notesMasterIdLst>
  <p:sldIdLst>
    <p:sldId id="256" r:id="rId5"/>
    <p:sldId id="309" r:id="rId6"/>
    <p:sldId id="273" r:id="rId7"/>
    <p:sldId id="258" r:id="rId8"/>
    <p:sldId id="303" r:id="rId9"/>
    <p:sldId id="261" r:id="rId10"/>
    <p:sldId id="295" r:id="rId11"/>
    <p:sldId id="274" r:id="rId12"/>
    <p:sldId id="269" r:id="rId13"/>
    <p:sldId id="286" r:id="rId14"/>
    <p:sldId id="288" r:id="rId15"/>
    <p:sldId id="284" r:id="rId16"/>
    <p:sldId id="285" r:id="rId17"/>
    <p:sldId id="280" r:id="rId18"/>
    <p:sldId id="260" r:id="rId19"/>
    <p:sldId id="296" r:id="rId20"/>
    <p:sldId id="281" r:id="rId21"/>
    <p:sldId id="310" r:id="rId22"/>
    <p:sldId id="276" r:id="rId23"/>
    <p:sldId id="302" r:id="rId24"/>
    <p:sldId id="299" r:id="rId25"/>
    <p:sldId id="270" r:id="rId26"/>
    <p:sldId id="301" r:id="rId27"/>
    <p:sldId id="278" r:id="rId28"/>
    <p:sldId id="297" r:id="rId29"/>
    <p:sldId id="292" r:id="rId30"/>
    <p:sldId id="298" r:id="rId31"/>
    <p:sldId id="294" r:id="rId32"/>
    <p:sldId id="293" r:id="rId33"/>
    <p:sldId id="305" r:id="rId34"/>
  </p:sldIdLst>
  <p:sldSz cx="9144000" cy="6858000" type="screen4x3"/>
  <p:notesSz cx="9144000" cy="6858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2E2306-C9D7-F903-BFB2-740E67E985F4}" name="Erika Bernaldete Mendes" initials="EBM" userId="S::emendes@wisc.edu::280992a8-4159-41b6-8ceb-6659a036706d" providerId="AD"/>
  <p188:author id="{063C704E-AB57-702C-9DD9-05D5BB07ADC5}" name="Betsi Hill" initials="BH" userId="S::eahill3@wisc.edu::b3beeda0-e4bd-4404-8d4a-b26636e6be39" providerId="AD"/>
  <p188:author id="{4F5C0185-EB10-1594-7E73-68AC71C4E399}" name="Benjamin Guerrero" initials="BG" userId="S::bguerrero2@wisc.edu::98c24ed7-c73d-4bf6-9dff-6a210de8c100" providerId="AD"/>
  <p188:author id="{0190D3A1-3DF5-8B31-09A7-9624C9513973}" name="MAXWELL George MCCARTNEY" initials="MM" userId="S::mgmccartney@wisc.edu::ee991494-fecf-4237-bc69-47c786cd43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4CF"/>
    <a:srgbClr val="FACDD0"/>
    <a:srgbClr val="0D3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80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WELL George MCCARTNEY" userId="ee991494-fecf-4237-bc69-47c786cd4377" providerId="ADAL" clId="{4ACD23D7-B4B6-4117-AC79-8472FFBA779B}"/>
    <pc:docChg chg="modSld">
      <pc:chgData name="MAXWELL George MCCARTNEY" userId="ee991494-fecf-4237-bc69-47c786cd4377" providerId="ADAL" clId="{4ACD23D7-B4B6-4117-AC79-8472FFBA779B}" dt="2026-03-10T19:59:11.436" v="0" actId="14734"/>
      <pc:docMkLst>
        <pc:docMk/>
      </pc:docMkLst>
      <pc:sldChg chg="modSp mod">
        <pc:chgData name="MAXWELL George MCCARTNEY" userId="ee991494-fecf-4237-bc69-47c786cd4377" providerId="ADAL" clId="{4ACD23D7-B4B6-4117-AC79-8472FFBA779B}" dt="2026-03-10T19:59:11.436" v="0" actId="14734"/>
        <pc:sldMkLst>
          <pc:docMk/>
          <pc:sldMk cId="1394010998" sldId="309"/>
        </pc:sldMkLst>
        <pc:graphicFrameChg chg="modGraphic">
          <ac:chgData name="MAXWELL George MCCARTNEY" userId="ee991494-fecf-4237-bc69-47c786cd4377" providerId="ADAL" clId="{4ACD23D7-B4B6-4117-AC79-8472FFBA779B}" dt="2026-03-10T19:59:11.436" v="0" actId="14734"/>
          <ac:graphicFrameMkLst>
            <pc:docMk/>
            <pc:sldMk cId="1394010998" sldId="309"/>
            <ac:graphicFrameMk id="20" creationId="{B8A25BC8-CA6F-0494-66CC-E9047110A520}"/>
          </ac:graphicFrameMkLst>
        </pc:graphicFrameChg>
      </pc:sldChg>
    </pc:docChg>
  </pc:docChgLst>
</pc:chgInfo>
</file>

<file path=ppt/comments/modernComment_11C_737EEE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BFB7A5-7968-4FBA-AB1C-AE02C312266B}" authorId="{063C704E-AB57-702C-9DD9-05D5BB07ADC5}" status="resolved" created="2025-11-24T01:31:41.823" complete="100000">
    <pc:sldMkLst xmlns:pc="http://schemas.microsoft.com/office/powerpoint/2013/main/command">
      <pc:docMk/>
      <pc:sldMk cId="1937698502" sldId="284"/>
    </pc:sldMkLst>
    <p188:txBody>
      <a:bodyPr/>
      <a:lstStyle/>
      <a:p>
        <a:r>
          <a:rPr lang="en-US"/>
          <a:t>chart is not above, chart is below (4th bullet)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1-24T01:41:40.955" authorId="{4F5C0185-EB10-1594-7E73-68AC71C4E399}"/>
          </p223:rxn>
        </p223:reactions>
      </p:ext>
    </p188:extLst>
  </p188:cm>
</p188:cmLst>
</file>

<file path=ppt/comments/modernComment_111_6AE4E6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690981-0EE5-4650-B0C0-77426A2E4783}" authorId="{063C704E-AB57-702C-9DD9-05D5BB07ADC5}" created="2025-11-24T01:27:37.735">
    <pc:sldMkLst xmlns:pc="http://schemas.microsoft.com/office/powerpoint/2013/main/command">
      <pc:docMk/>
      <pc:sldMk cId="1793386237" sldId="273"/>
    </pc:sldMkLst>
    <p188:txBody>
      <a:bodyPr/>
      <a:lstStyle/>
      <a:p>
        <a:r>
          <a:rPr lang="en-US"/>
          <a:t>flipping through these section pages will cost you some seconds but could also lead to better speaker handoffs</a:t>
        </a:r>
      </a:p>
    </p188:txBody>
  </p188:cm>
</p188:cmLst>
</file>

<file path=ppt/comments/modernComment_120_3F8231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DC4852-97EB-3E44-8945-37559093E8A5}" authorId="{4F5C0185-EB10-1594-7E73-68AC71C4E399}" created="2025-11-23T11:41:54.362">
    <pc:sldMkLst xmlns:pc="http://schemas.microsoft.com/office/powerpoint/2013/main/command">
      <pc:docMk/>
      <pc:sldMk cId="1065496962" sldId="288"/>
    </pc:sldMkLst>
    <p188:replyLst>
      <p188:reply id="{15D1BFAD-E7D8-44D3-99EA-6D7C0FAE9710}" authorId="{063C704E-AB57-702C-9DD9-05D5BB07ADC5}" created="2025-11-24T01:30:07.727">
        <p188:txBody>
          <a:bodyPr/>
          <a:lstStyle/>
          <a:p>
            <a:r>
              <a:rPr lang="en-US"/>
              <a:t>Not FCF?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5-11-24T01:42:08.611" authorId="{4F5C0185-EB10-1594-7E73-68AC71C4E399}"/>
              </p223:rxn>
            </p223:reactions>
          </p:ext>
        </p188:extLst>
      </p188:reply>
      <p188:reply id="{F886C5E9-618F-2343-AB59-77E3F1906E4E}" authorId="{4F5C0185-EB10-1594-7E73-68AC71C4E399}" created="2025-11-24T01:42:07.739">
        <p188:txBody>
          <a:bodyPr/>
          <a:lstStyle/>
          <a:p>
            <a:r>
              <a:rPr lang="en-US"/>
              <a:t>Same calculation (OCF - CAPEX), S&amp;P just calls it that.</a:t>
            </a:r>
          </a:p>
        </p188:txBody>
      </p188:reply>
    </p188:replyLst>
    <p188:txBody>
      <a:bodyPr/>
      <a:lstStyle/>
      <a:p>
        <a:r>
          <a:rPr lang="en-US"/>
          <a:t>Fix typos: FOFC to FOCF.</a:t>
        </a:r>
      </a:p>
    </p188:txBody>
  </p188:cm>
</p188:cmLst>
</file>

<file path=ppt/comments/modernComment_127_5E7234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BAF473-74E1-0645-8367-61C23E5BE273}" authorId="{4F5C0185-EB10-1594-7E73-68AC71C4E399}" created="2025-11-23T11:42:13.613">
    <pc:sldMkLst xmlns:pc="http://schemas.microsoft.com/office/powerpoint/2013/main/command">
      <pc:docMk/>
      <pc:sldMk cId="1584542869" sldId="295"/>
    </pc:sldMkLst>
    <p188:txBody>
      <a:bodyPr/>
      <a:lstStyle/>
      <a:p>
        <a:r>
          <a:rPr lang="en-US"/>
          <a:t>Fix Typos: FOFC to FOCF.</a:t>
        </a:r>
      </a:p>
    </p188:txBody>
  </p188:cm>
  <p188:cm id="{BF357269-5430-453C-8F7D-3EBFB0552812}" authorId="{063C704E-AB57-702C-9DD9-05D5BB07ADC5}" created="2025-11-24T01:24:04.078">
    <pc:sldMkLst xmlns:pc="http://schemas.microsoft.com/office/powerpoint/2013/main/command">
      <pc:docMk/>
      <pc:sldMk cId="1584542869" sldId="295"/>
    </pc:sldMkLst>
    <p188:replyLst>
      <p188:reply id="{026383E0-798D-406B-8560-D621ED7A2FF5}" authorId="{063C704E-AB57-702C-9DD9-05D5BB07ADC5}" created="2025-11-24T01:29:11.881">
        <p188:txBody>
          <a:bodyPr/>
          <a:lstStyle/>
          <a:p>
            <a:r>
              <a:rPr lang="en-US"/>
              <a:t>abbreviate revolver RCF, narrow left-hand column, size columns, make font larger so this is more readable</a:t>
            </a:r>
          </a:p>
        </p188:txBody>
      </p188:reply>
    </p188:replyLst>
    <p188:txBody>
      <a:bodyPr/>
      <a:lstStyle/>
      <a:p>
        <a:r>
          <a:rPr lang="en-US"/>
          <a:t>Slide 7 your cap structure needs to be in millions. Right now it is mixed</a:t>
        </a:r>
      </a:p>
    </p188:txBody>
  </p188:cm>
</p188:cmLst>
</file>

<file path=ppt/comments/modernComment_135_5316EB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4F4404-1665-400E-9B55-9A04270F4FCB}" authorId="{063C704E-AB57-702C-9DD9-05D5BB07ADC5}" created="2025-11-24T01:26:48.514">
    <pc:sldMkLst xmlns:pc="http://schemas.microsoft.com/office/powerpoint/2013/main/command">
      <pc:docMk/>
      <pc:sldMk cId="1394010998" sldId="309"/>
    </pc:sldMkLst>
    <p188:txBody>
      <a:bodyPr/>
      <a:lstStyle/>
      <a:p>
        <a:r>
          <a:rPr lang="en-US"/>
          <a:t>consider adding description CLH senior notes due xx</a:t>
        </a:r>
      </a:p>
    </p188:txBody>
  </p188:cm>
</p188:cmLst>
</file>

<file path=ppt/comments/modernComment_136_666AF0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253275-512D-DA44-ABE7-327F162D54BC}" authorId="{063C704E-AB57-702C-9DD9-05D5BB07ADC5}" created="2025-11-24T01:26:48.514">
    <pc:sldMkLst xmlns:pc="http://schemas.microsoft.com/office/powerpoint/2013/main/command">
      <pc:docMk/>
      <pc:sldMk cId="1394010998" sldId="309"/>
    </pc:sldMkLst>
    <p188:txBody>
      <a:bodyPr/>
      <a:lstStyle/>
      <a:p>
        <a:r>
          <a:rPr lang="en-US"/>
          <a:t>consider adding description CLH senior notes due xx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F63D6-2695-4E87-BF74-FE59CAE07C43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C16E-6A7A-4C23-AD38-248939BCB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04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Capital Allocation Strategy: organic growth investments through capex, acquisitions and divestitures, share repurchases, debt repayment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End Market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2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7D5F-F0C9-142C-038A-5579DFDC3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5D5BD-A082-A9AD-000D-FA44C98CB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772B8-F6B3-CFFD-A1D0-C4E14F04D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Capital Allocation Strategy: organic growth investments through capex, acquisitions and divestitures, share repurchases, debt repayment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End Market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1162F-2420-BE81-2B53-23CFE52D6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67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5 high-temperature hazardous waste incineration facilities across the U.S. and Canada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Aragonite, UT; Deer Park, TX; El Dorado, AR; Sarnia, ON; and Kimball, 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7 landfills, 11 wastewater treatment facilities (9 owned, 1 leased), 33 treatment, storage, and disposal facilities (TSDFs; 30 owned, 3 leased), 8 facilities specializing in solvent recovery (7 owned, 1 leased), 90 oil terminals (53 owned, 37 leased), 9 oil refineries (all owned), 4 oil packaging and blending facilities (3 owned, 1 leased)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69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0EEC-191C-A32C-BF48-6B995BE8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D009D-9709-57B0-E6E8-A37E7676D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1A7F3-F059-6E22-344A-55327C5C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4AF7-40EE-5338-2D4D-7EF108A40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77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9BF7-6E71-895B-8FB7-F310C1B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89737-4360-5AD0-B51A-86A0B3DCA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7B57B4-2741-7DDA-0173-65E6E242F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A7CE1-3197-5ED6-088A-C5970ACFF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79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81AA-85A9-D4B5-7F79-21FC1C6A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72BD3-F45A-48A6-0D80-3281F1BE4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206A6-A242-2104-2629-E56C968DF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C603-948B-13F2-3A07-DD9DA869C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5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Recent acquisitions of </a:t>
            </a:r>
            <a:r>
              <a:rPr lang="en-US" err="1">
                <a:latin typeface="Palatino Linotype" panose="02040502050505030304" pitchFamily="18" charset="0"/>
              </a:rPr>
              <a:t>Hepaco</a:t>
            </a:r>
            <a:r>
              <a:rPr lang="en-US">
                <a:latin typeface="Palatino Linotype" panose="02040502050505030304" pitchFamily="18" charset="0"/>
              </a:rPr>
              <a:t>, </a:t>
            </a:r>
            <a:r>
              <a:rPr lang="en-US" err="1">
                <a:latin typeface="Palatino Linotype" panose="02040502050505030304" pitchFamily="18" charset="0"/>
              </a:rPr>
              <a:t>HydroChemPSC</a:t>
            </a:r>
            <a:r>
              <a:rPr lang="en-US">
                <a:latin typeface="Palatino Linotype" panose="02040502050505030304" pitchFamily="18" charset="0"/>
              </a:rPr>
              <a:t>, and Noble Oil enhance vertical integration across environmental services and SKSS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latin typeface="Palatino Linotype" panose="02040502050505030304" pitchFamily="18" charset="0"/>
              </a:rPr>
              <a:t>Hepaco</a:t>
            </a:r>
            <a:r>
              <a:rPr lang="en-US">
                <a:latin typeface="Palatino Linotype" panose="02040502050505030304" pitchFamily="18" charset="0"/>
              </a:rPr>
              <a:t> acquisition strengthens emergency response and remediation network across 17 states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9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36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EC16E-6A7A-4C23-AD38-248939BCBD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12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D76E8-DD3D-A84C-AEAD-AC349AE5381C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2018" y="478064"/>
            <a:ext cx="2197968" cy="375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362200" y="195071"/>
            <a:ext cx="0" cy="944880"/>
          </a:xfrm>
          <a:custGeom>
            <a:avLst/>
            <a:gdLst/>
            <a:ahLst/>
            <a:cxnLst/>
            <a:rect l="l" t="t" r="r" b="b"/>
            <a:pathLst>
              <a:path h="944880">
                <a:moveTo>
                  <a:pt x="0" y="0"/>
                </a:moveTo>
                <a:lnTo>
                  <a:pt x="0" y="944880"/>
                </a:lnTo>
              </a:path>
            </a:pathLst>
          </a:custGeom>
          <a:ln w="9144">
            <a:solidFill>
              <a:srgbClr val="559F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3C760-9114-E643-ADAC-0DCEA308EFA1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ED036-95AE-174F-BCD4-F67A19E40CAE}" type="datetime1">
              <a:rPr lang="en-US" smtClean="0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D7CD-BE96-B446-913E-4918FF363983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967227"/>
            <a:ext cx="0" cy="2025650"/>
          </a:xfrm>
          <a:custGeom>
            <a:avLst/>
            <a:gdLst/>
            <a:ahLst/>
            <a:cxnLst/>
            <a:rect l="l" t="t" r="r" b="b"/>
            <a:pathLst>
              <a:path h="2025650">
                <a:moveTo>
                  <a:pt x="0" y="0"/>
                </a:moveTo>
                <a:lnTo>
                  <a:pt x="0" y="2025434"/>
                </a:lnTo>
              </a:path>
            </a:pathLst>
          </a:custGeom>
          <a:ln w="9144">
            <a:solidFill>
              <a:srgbClr val="559F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276486" y="2971800"/>
            <a:ext cx="3780945" cy="903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669791" y="304800"/>
            <a:ext cx="5017007" cy="62483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A6B2A-1078-224A-A3F9-BBE5CB35ACDF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ED5CA93-A69D-BCA6-AC86-0FF2AC2802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04324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04" imgH="403" progId="TCLayout.ActiveDocument.1">
                  <p:embed/>
                </p:oleObj>
              </mc:Choice>
              <mc:Fallback>
                <p:oleObj name="think-cell Slide" r:id="rId8" imgW="404" imgH="403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ED5CA93-A69D-BCA6-AC86-0FF2AC2802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400" y="195071"/>
            <a:ext cx="8839200" cy="41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3E570-8994-4941-A15F-C0C765F305EA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5_5316EB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6AE4E6FD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10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microsoft.com/office/2018/10/relationships/comments" Target="../comments/modernComment_127_5E723495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microsoft.com/office/2018/10/relationships/comments" Target="../comments/modernComment_120_3F823182.xml"/><Relationship Id="rId9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microsoft.com/office/2018/10/relationships/comments" Target="../comments/modernComment_11C_737EEEC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6_666AF0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7.png"/><Relationship Id="rId5" Type="http://schemas.openxmlformats.org/officeDocument/2006/relationships/image" Target="../media/image5.jpeg"/><Relationship Id="rId4" Type="http://schemas.openxmlformats.org/officeDocument/2006/relationships/image" Target="../media/image1.emf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5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.bin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32.emf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35.emf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36.emf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37.emf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758" y="3873271"/>
            <a:ext cx="5811266" cy="110991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50800">
              <a:spcBef>
                <a:spcPts val="95"/>
              </a:spcBef>
            </a:pPr>
            <a:r>
              <a:rPr lang="en-US" sz="1600" b="1" spc="-15">
                <a:latin typeface="Palatino Linotype" panose="02040502050505030304" pitchFamily="18" charset="0"/>
                <a:cs typeface="Calibri"/>
              </a:rPr>
              <a:t>November 23</a:t>
            </a:r>
            <a:r>
              <a:rPr lang="en-US" sz="1600" b="1">
                <a:latin typeface="Palatino Linotype" panose="02040502050505030304" pitchFamily="18" charset="0"/>
                <a:cs typeface="Calibri"/>
              </a:rPr>
              <a:t>,</a:t>
            </a:r>
            <a:r>
              <a:rPr lang="en-US" sz="1600" b="1" spc="30">
                <a:latin typeface="Palatino Linotype" panose="02040502050505030304" pitchFamily="18" charset="0"/>
                <a:cs typeface="Calibri"/>
              </a:rPr>
              <a:t> </a:t>
            </a:r>
            <a:r>
              <a:rPr lang="en-US" sz="1600" b="1" spc="-10">
                <a:latin typeface="Palatino Linotype" panose="02040502050505030304" pitchFamily="18" charset="0"/>
                <a:cs typeface="Calibri"/>
              </a:rPr>
              <a:t>2025</a:t>
            </a:r>
            <a:endParaRPr lang="en-US" sz="1600">
              <a:latin typeface="Palatino Linotype" panose="02040502050505030304" pitchFamily="18" charset="0"/>
              <a:cs typeface="Calibri"/>
            </a:endParaRPr>
          </a:p>
          <a:p>
            <a:pPr marL="46355">
              <a:lnSpc>
                <a:spcPct val="100000"/>
              </a:lnSpc>
              <a:spcBef>
                <a:spcPts val="1425"/>
              </a:spcBef>
            </a:pPr>
            <a:r>
              <a:rPr lang="en-US" sz="1600" b="1" spc="-10">
                <a:latin typeface="Palatino Linotype" panose="02040502050505030304" pitchFamily="18" charset="0"/>
                <a:cs typeface="Calibri"/>
              </a:rPr>
              <a:t>Team Number: 5</a:t>
            </a:r>
            <a:endParaRPr lang="en-US" sz="1600" b="1" spc="-10">
              <a:latin typeface="Palatino Linotype" panose="02040502050505030304" pitchFamily="18" charset="0"/>
              <a:ea typeface="Calibri"/>
              <a:cs typeface="Calibri"/>
            </a:endParaRPr>
          </a:p>
          <a:p>
            <a:pPr marL="46355">
              <a:spcBef>
                <a:spcPts val="1425"/>
              </a:spcBef>
            </a:pPr>
            <a:r>
              <a:rPr lang="en-US" sz="1600" b="1" spc="-10">
                <a:latin typeface="Palatino Linotype" panose="02040502050505030304" pitchFamily="18" charset="0"/>
                <a:cs typeface="Calibri"/>
              </a:rPr>
              <a:t>Students: Benjamin Guerrero, Max McCartney, Erika Mendes</a:t>
            </a:r>
            <a:endParaRPr lang="en-US" sz="1600">
              <a:latin typeface="Palatino Linotype" panose="02040502050505030304" pitchFamily="18" charset="0"/>
              <a:cs typeface="Calibri"/>
            </a:endParaRP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E25BADBA-9A65-2337-C340-46B2220C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DAFB3-77F1-61C2-68A3-F37A7303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A703B78-2EAD-8ECA-0A55-A64C5FB093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A703B78-2EAD-8ECA-0A55-A64C5FB09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32E55-4EEC-829D-8F42-2F422B6C66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10FA1DF-8A8B-F9E0-6B81-0C40BE29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136" y="486017"/>
            <a:ext cx="6497782" cy="369332"/>
          </a:xfrm>
        </p:spPr>
        <p:txBody>
          <a:bodyPr/>
          <a:lstStyle/>
          <a:p>
            <a:r>
              <a:rPr lang="en-US" sz="2400">
                <a:solidFill>
                  <a:srgbClr val="00B050"/>
                </a:solidFill>
                <a:latin typeface="Palatino Linotype" panose="02040502050505030304" pitchFamily="18" charset="0"/>
              </a:rPr>
              <a:t>Buy</a:t>
            </a:r>
            <a:r>
              <a:rPr lang="en-US" sz="2400">
                <a:solidFill>
                  <a:schemeClr val="tx1"/>
                </a:solidFill>
                <a:latin typeface="Palatino Linotype" panose="02040502050505030304" pitchFamily="18" charset="0"/>
              </a:rPr>
              <a:t> CLH 6.375% 2/01/31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58FAC-0630-E660-1F78-409B5B84BE63}"/>
              </a:ext>
            </a:extLst>
          </p:cNvPr>
          <p:cNvSpPr/>
          <p:nvPr/>
        </p:nvSpPr>
        <p:spPr>
          <a:xfrm>
            <a:off x="355764" y="1347007"/>
            <a:ext cx="4310743" cy="551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kern="0">
                <a:solidFill>
                  <a:schemeClr val="bg1"/>
                </a:solidFill>
                <a:latin typeface="Palatino Linotype" panose="02040502050505030304" pitchFamily="18" charset="0"/>
              </a:rPr>
              <a:t>Investment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4D4841-2997-52AA-072D-357AFCEB10B5}"/>
              </a:ext>
            </a:extLst>
          </p:cNvPr>
          <p:cNvSpPr/>
          <p:nvPr/>
        </p:nvSpPr>
        <p:spPr>
          <a:xfrm>
            <a:off x="355763" y="2018121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1: </a:t>
            </a:r>
          </a:p>
          <a:p>
            <a:endParaRPr lang="en-US" b="1" ker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Durable Competitive Advantage Will Drive Strong Credit Metrics Through 2027 and Support a Potential Ratings Upgrade in 2027</a:t>
            </a:r>
            <a:endParaRPr lang="en-US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31E114-7029-6716-575D-5FDD2F50BFF5}"/>
              </a:ext>
            </a:extLst>
          </p:cNvPr>
          <p:cNvSpPr/>
          <p:nvPr/>
        </p:nvSpPr>
        <p:spPr>
          <a:xfrm>
            <a:off x="355764" y="4155179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2:</a:t>
            </a: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Clean Harbors Will be Able to Maintain its Strong Credit Profile Even After Financing 2026 and 2027 Acquisitions</a:t>
            </a:r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11" name="Picture 10" descr="Clean Harbors - Wikipedia">
            <a:extLst>
              <a:ext uri="{FF2B5EF4-FFF2-40B4-BE49-F238E27FC236}">
                <a16:creationId xmlns:a16="http://schemas.microsoft.com/office/drawing/2014/main" id="{C43FBC41-7BD7-4DB3-8F11-52DFEAEB77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AA20F4-9314-9C39-184F-0A6CE6EA7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19208"/>
              </p:ext>
            </p:extLst>
          </p:nvPr>
        </p:nvGraphicFramePr>
        <p:xfrm>
          <a:off x="4859012" y="4155179"/>
          <a:ext cx="3922296" cy="20174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97248">
                  <a:extLst>
                    <a:ext uri="{9D8B030D-6E8A-4147-A177-3AD203B41FA5}">
                      <a16:colId xmlns:a16="http://schemas.microsoft.com/office/drawing/2014/main" val="1358448905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1466930279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556841350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179477369"/>
                    </a:ext>
                  </a:extLst>
                </a:gridCol>
              </a:tblGrid>
              <a:tr h="572113">
                <a:tc>
                  <a:txBody>
                    <a:bodyPr/>
                    <a:lstStyle/>
                    <a:p>
                      <a:pPr algn="ctr"/>
                      <a:endParaRPr lang="en-US" sz="180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Bear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4052"/>
                  </a:ext>
                </a:extLst>
              </a:tr>
              <a:tr h="144537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2Y HPR (Annualized)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6.42%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6.10%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5.43%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9284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8A25BC8-CA6F-0494-66CC-E9047110A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56655"/>
              </p:ext>
            </p:extLst>
          </p:nvPr>
        </p:nvGraphicFramePr>
        <p:xfrm>
          <a:off x="4859011" y="1345227"/>
          <a:ext cx="3922295" cy="2788941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3941">
                  <a:extLst>
                    <a:ext uri="{9D8B030D-6E8A-4147-A177-3AD203B41FA5}">
                      <a16:colId xmlns:a16="http://schemas.microsoft.com/office/drawing/2014/main" val="935424687"/>
                    </a:ext>
                  </a:extLst>
                </a:gridCol>
                <a:gridCol w="1748354">
                  <a:extLst>
                    <a:ext uri="{9D8B030D-6E8A-4147-A177-3AD203B41FA5}">
                      <a16:colId xmlns:a16="http://schemas.microsoft.com/office/drawing/2014/main" val="3314869410"/>
                    </a:ext>
                  </a:extLst>
                </a:gridCol>
              </a:tblGrid>
              <a:tr h="56770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Bond Info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195644"/>
                  </a:ext>
                </a:extLst>
              </a:tr>
              <a:tr h="4492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Moody’s/S&amp;P/Fitch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  <a:latin typeface="Palatino Linotype" panose="02040502050505030304" pitchFamily="18" charset="0"/>
                        </a:rPr>
                        <a:t>Ba2/BB+/BB+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10262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Issue Size ($M)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$500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58217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OAS (bps)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60830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YTW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5.23%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7224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Convexity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865659"/>
                  </a:ext>
                </a:extLst>
              </a:tr>
              <a:tr h="3691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Modified Duration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1.99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821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6F1676-CB40-0457-1FCB-15DF9A92E6B8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3940109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B0B7D-2B57-5502-89CA-7C419AA621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3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E0343-5EFE-233B-D840-1329D5FFCB7C}"/>
              </a:ext>
            </a:extLst>
          </p:cNvPr>
          <p:cNvSpPr txBox="1"/>
          <p:nvPr/>
        </p:nvSpPr>
        <p:spPr>
          <a:xfrm>
            <a:off x="1353815" y="2967335"/>
            <a:ext cx="6436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Company Overview</a:t>
            </a:r>
          </a:p>
        </p:txBody>
      </p:sp>
    </p:spTree>
    <p:extLst>
      <p:ext uri="{BB962C8B-B14F-4D97-AF65-F5344CB8AC3E}">
        <p14:creationId xmlns:p14="http://schemas.microsoft.com/office/powerpoint/2010/main" val="17933862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6DED-2FF0-17C8-EE49-247455CA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1E1FB79-2ED9-736B-ABBD-FC0CD3DC7E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1E1FB79-2ED9-736B-ABBD-FC0CD3DC7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E2BFD-35B6-88EC-9639-6CE096A266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726DBFD-84DB-A32A-2D03-F692CBAE4C25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49778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73620-20CD-F4FA-FD3D-89875B5A5ED1}"/>
              </a:ext>
            </a:extLst>
          </p:cNvPr>
          <p:cNvSpPr txBox="1"/>
          <p:nvPr/>
        </p:nvSpPr>
        <p:spPr>
          <a:xfrm>
            <a:off x="363682" y="1184564"/>
            <a:ext cx="8416636" cy="92333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Palatino Linotype" panose="02040502050505030304" pitchFamily="18" charset="0"/>
              </a:rPr>
              <a:t>Clean Harbors (CLH) is North America’s leading provider of environmental and industrial services, specializing in hazardous waste management, sustainability solutions, and emergency response.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34DCD-2520-C8BA-2745-77A0AB6164EE}"/>
              </a:ext>
            </a:extLst>
          </p:cNvPr>
          <p:cNvSpPr txBox="1"/>
          <p:nvPr/>
        </p:nvSpPr>
        <p:spPr>
          <a:xfrm>
            <a:off x="363681" y="2857507"/>
            <a:ext cx="369875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latin typeface="Palatino Linotype" panose="02040502050505030304" pitchFamily="18" charset="0"/>
              </a:rPr>
              <a:t>Environmental Services Segment (ES)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Palatino Linotype" panose="02040502050505030304" pitchFamily="18" charset="0"/>
              </a:rPr>
              <a:t>Provider of hazardous and non-hazardous waste management services across North America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Palatino Linotype" panose="02040502050505030304" pitchFamily="18" charset="0"/>
            </a:endParaRP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FAD266C3-5720-71F5-3B34-3A45D8F1E3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D03AA9-D8E5-7F2A-8B58-4A7B1507724C}"/>
              </a:ext>
            </a:extLst>
          </p:cNvPr>
          <p:cNvSpPr txBox="1"/>
          <p:nvPr/>
        </p:nvSpPr>
        <p:spPr>
          <a:xfrm>
            <a:off x="363681" y="4410756"/>
            <a:ext cx="3698754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>
                <a:latin typeface="Palatino Linotype" panose="02040502050505030304" pitchFamily="18" charset="0"/>
              </a:rPr>
              <a:t>Safety-Kleen Sustainability Solutions Segment (SKSS)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Palatino Linotype" panose="02040502050505030304" pitchFamily="18" charset="0"/>
              </a:rPr>
              <a:t>Re-refines used oil to produce high quality lubricants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Palatino Linotype" panose="0204050205050503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B954B1-FCDE-9C65-A5C5-5543A7F41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3153" y="2755534"/>
            <a:ext cx="3117213" cy="29840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B2ADC22-5ED5-B2FB-612C-2633D81A7DB9}"/>
              </a:ext>
            </a:extLst>
          </p:cNvPr>
          <p:cNvSpPr/>
          <p:nvPr/>
        </p:nvSpPr>
        <p:spPr>
          <a:xfrm>
            <a:off x="363680" y="5848423"/>
            <a:ext cx="8416636" cy="371815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CLH’s revenue streams are diversified across a wide range of end markets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ABDF90-52E5-C9B3-C517-56F0C1205F42}"/>
              </a:ext>
            </a:extLst>
          </p:cNvPr>
          <p:cNvSpPr/>
          <p:nvPr/>
        </p:nvSpPr>
        <p:spPr>
          <a:xfrm>
            <a:off x="363682" y="2255882"/>
            <a:ext cx="3698754" cy="3718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Revenue Segments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CBE39E-BFE5-3E97-BCB9-FE8DBE4DEC2E}"/>
              </a:ext>
            </a:extLst>
          </p:cNvPr>
          <p:cNvSpPr/>
          <p:nvPr/>
        </p:nvSpPr>
        <p:spPr>
          <a:xfrm>
            <a:off x="5003202" y="2255881"/>
            <a:ext cx="3777116" cy="37181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Customer 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7BA94-523A-C4EF-41DF-3C415E283EF9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340B5AC6-9082-6442-7D5C-A9656459ECF6}"/>
              </a:ext>
            </a:extLst>
          </p:cNvPr>
          <p:cNvSpPr/>
          <p:nvPr/>
        </p:nvSpPr>
        <p:spPr>
          <a:xfrm>
            <a:off x="4240594" y="3837408"/>
            <a:ext cx="914400" cy="820271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6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67774-00CC-6DC1-FF14-2BE69C37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F7A1A4A-346C-CC9F-D863-E426CF5419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F7A1A4A-346C-CC9F-D863-E426CF541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3A71-50A3-06F6-D97D-F4E431CD63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74E9698B-5369-A43A-366F-8F1626F25DB7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49778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94193-A72A-8D4F-0A67-C027802C8530}"/>
              </a:ext>
            </a:extLst>
          </p:cNvPr>
          <p:cNvSpPr txBox="1"/>
          <p:nvPr/>
        </p:nvSpPr>
        <p:spPr>
          <a:xfrm>
            <a:off x="363682" y="1184564"/>
            <a:ext cx="8416636" cy="1200329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Palatino Linotype" panose="02040502050505030304" pitchFamily="18" charset="0"/>
              </a:rPr>
              <a:t>Clean Harbors (CLH) has continued to show resilient financial momentum with 12% revenue CAGR and 14% EBITDA CAGR since 2021. The environmental services segment remains the core earnings engine, consistently representing a majority of CLH’s sales.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8FC6E32D-F6A8-7075-7C97-BDEC6400C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CD80E9-E156-DA31-CC44-3E943076BA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497" y="2465353"/>
            <a:ext cx="3519277" cy="2064092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C04A45-EBAC-A649-E27A-566B8B31AE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379" y="2465352"/>
            <a:ext cx="2376696" cy="2058417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E4CF1C-36D7-7E74-13C1-55C69F829B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498" y="4545715"/>
            <a:ext cx="3505254" cy="1976749"/>
          </a:xfrm>
          <a:prstGeom prst="rect">
            <a:avLst/>
          </a:prstGeom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7DE7B3-BB48-29AA-125B-03F6555088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9379" y="4545715"/>
            <a:ext cx="2376696" cy="1976749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3A332C-1B6E-37F1-2CD9-02BC5BB299B1}"/>
              </a:ext>
            </a:extLst>
          </p:cNvPr>
          <p:cNvSpPr txBox="1"/>
          <p:nvPr/>
        </p:nvSpPr>
        <p:spPr>
          <a:xfrm>
            <a:off x="2426027" y="2716873"/>
            <a:ext cx="1016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Palatino Linotype" panose="02040502050505030304" pitchFamily="18" charset="0"/>
              </a:rPr>
              <a:t>12% CAGR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22D2F1-4073-458E-1675-79585D8A88A1}"/>
              </a:ext>
            </a:extLst>
          </p:cNvPr>
          <p:cNvCxnSpPr>
            <a:cxnSpLocks/>
          </p:cNvCxnSpPr>
          <p:nvPr/>
        </p:nvCxnSpPr>
        <p:spPr>
          <a:xfrm flipV="1">
            <a:off x="2290484" y="2858216"/>
            <a:ext cx="1287095" cy="25725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3BC176-C431-EC4A-EC7D-9F5DCECAD7E3}"/>
              </a:ext>
            </a:extLst>
          </p:cNvPr>
          <p:cNvCxnSpPr>
            <a:cxnSpLocks/>
          </p:cNvCxnSpPr>
          <p:nvPr/>
        </p:nvCxnSpPr>
        <p:spPr>
          <a:xfrm flipV="1">
            <a:off x="2099066" y="4892231"/>
            <a:ext cx="1342972" cy="26275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7E1CF1-3DAF-8013-A4F3-C8BEA71BD35C}"/>
              </a:ext>
            </a:extLst>
          </p:cNvPr>
          <p:cNvSpPr txBox="1"/>
          <p:nvPr/>
        </p:nvSpPr>
        <p:spPr>
          <a:xfrm>
            <a:off x="2124125" y="4799197"/>
            <a:ext cx="8514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Palatino Linotype" panose="02040502050505030304" pitchFamily="18" charset="0"/>
              </a:rPr>
              <a:t>14% CAGR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432624-4752-E643-9E07-A89ADC04F737}"/>
              </a:ext>
            </a:extLst>
          </p:cNvPr>
          <p:cNvSpPr txBox="1"/>
          <p:nvPr/>
        </p:nvSpPr>
        <p:spPr>
          <a:xfrm>
            <a:off x="5905747" y="6528140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87548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956E-0D67-4BA8-3F40-DE9CB869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CCD72CE-1590-B3FC-0149-2315412746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CCD72CE-1590-B3FC-0149-231541274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870F7-35F1-959E-E1C7-277B8EB85F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6</a:t>
            </a:fld>
            <a:endParaRPr lang="en-US">
              <a:latin typeface="Palatino Linotype" panose="0204050205050503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8307C2-E78E-23D4-9FE1-902BE6775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639386"/>
              </p:ext>
            </p:extLst>
          </p:nvPr>
        </p:nvGraphicFramePr>
        <p:xfrm>
          <a:off x="644236" y="1283671"/>
          <a:ext cx="7855528" cy="502930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927764">
                  <a:extLst>
                    <a:ext uri="{9D8B030D-6E8A-4147-A177-3AD203B41FA5}">
                      <a16:colId xmlns:a16="http://schemas.microsoft.com/office/drawing/2014/main" val="4099247513"/>
                    </a:ext>
                  </a:extLst>
                </a:gridCol>
                <a:gridCol w="3927764">
                  <a:extLst>
                    <a:ext uri="{9D8B030D-6E8A-4147-A177-3AD203B41FA5}">
                      <a16:colId xmlns:a16="http://schemas.microsoft.com/office/drawing/2014/main" val="3019084429"/>
                    </a:ext>
                  </a:extLst>
                </a:gridCol>
              </a:tblGrid>
              <a:tr h="45620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Palatino Linotype" panose="02040502050505030304" pitchFamily="18" charset="0"/>
                        </a:rPr>
                        <a:t>Moody’s (Ba1/Stable)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Palatino Linotype" panose="02040502050505030304" pitchFamily="18" charset="0"/>
                        </a:rPr>
                        <a:t>S&amp;P (BB+/Stable)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415853"/>
                  </a:ext>
                </a:extLst>
              </a:tr>
              <a:tr h="204326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Palatino Linotype" panose="02040502050505030304" pitchFamily="18" charset="0"/>
                        </a:rPr>
                        <a:t>Upgrade Triggers:</a:t>
                      </a:r>
                    </a:p>
                    <a:p>
                      <a:endParaRPr lang="en-US" sz="16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EBITDA margin approaching 25%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FCF to debt sustained above 12.5%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Total Debt/EBITDA below 3.0x </a:t>
                      </a:r>
                      <a:endParaRPr lang="en-US" sz="1600" b="1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Palatino Linotype" panose="02040502050505030304" pitchFamily="18" charset="0"/>
                        </a:rPr>
                        <a:t>Upgrade Triggers: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Palatino Linotype" panose="02040502050505030304" pitchFamily="18" charset="0"/>
                        </a:rPr>
                        <a:t>FOCF/Debt exceeds and sustains above 20%.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Palatino Linotype" panose="02040502050505030304" pitchFamily="18" charset="0"/>
                        </a:rPr>
                        <a:t>Management moves to establishing and maintaining investment grade policies and credit measures.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67198"/>
                  </a:ext>
                </a:extLst>
              </a:tr>
              <a:tr h="2490339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Palatino Linotype" panose="02040502050505030304" pitchFamily="18" charset="0"/>
                        </a:rPr>
                        <a:t>Downgrade Triggers: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>
                        <a:latin typeface="Palatino Linotype" panose="02040502050505030304" pitchFamily="18" charset="0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Debt/EBITDA &gt; 3.5x</a:t>
                      </a: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FCF to Debt &lt; 7.5%</a:t>
                      </a: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b="0" i="0">
                        <a:solidFill>
                          <a:schemeClr val="dk1"/>
                        </a:solidFill>
                        <a:effectLst/>
                        <a:latin typeface="Palatino Linotype" panose="02040502050505030304" pitchFamily="18" charset="0"/>
                        <a:ea typeface="+mn-ea"/>
                        <a:cs typeface="+mn-cs"/>
                      </a:endParaRPr>
                    </a:p>
                    <a:p>
                      <a:pPr marL="285750" marR="0" lvl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Materially lower incinerator utilization rate (typically high 80% range).</a:t>
                      </a:r>
                      <a:endParaRPr lang="en-US" sz="1600" b="1">
                        <a:latin typeface="Palatino Linotype" panose="02040502050505030304" pitchFamily="18" charset="0"/>
                      </a:endParaRPr>
                    </a:p>
                    <a:p>
                      <a:endParaRPr lang="en-US" sz="1600" b="1">
                        <a:latin typeface="Palatino Linotype" panose="020405020505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Palatino Linotype" panose="02040502050505030304" pitchFamily="18" charset="0"/>
                        </a:rPr>
                        <a:t>Downgrade Triggers:</a:t>
                      </a:r>
                    </a:p>
                    <a:p>
                      <a:endParaRPr lang="en-US" sz="1600" b="1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latin typeface="Palatino Linotype" panose="02040502050505030304" pitchFamily="18" charset="0"/>
                        </a:rPr>
                        <a:t>Leverage &gt; 4.0x through decline in sales or operating margins.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b="0">
                        <a:latin typeface="Palatino Linotype" panose="0204050205050503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>
                          <a:latin typeface="Palatino Linotype" panose="02040502050505030304" pitchFamily="18" charset="0"/>
                        </a:rPr>
                        <a:t>Clean Harbors pursues a series of bolt-on acquisitions or shareholder rewards, weakening credit metrics.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751021"/>
                  </a:ext>
                </a:extLst>
              </a:tr>
            </a:tbl>
          </a:graphicData>
        </a:graphic>
      </p:graphicFrame>
      <p:pic>
        <p:nvPicPr>
          <p:cNvPr id="7" name="Picture 6" descr="Clean Harbors - Wikipedia">
            <a:extLst>
              <a:ext uri="{FF2B5EF4-FFF2-40B4-BE49-F238E27FC236}">
                <a16:creationId xmlns:a16="http://schemas.microsoft.com/office/drawing/2014/main" id="{A753DE44-E753-A2B1-7E76-B9629396F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76FCF19-5A64-DCCA-7C46-B9B8987CBB9B}"/>
              </a:ext>
            </a:extLst>
          </p:cNvPr>
          <p:cNvSpPr txBox="1">
            <a:spLocks/>
          </p:cNvSpPr>
          <p:nvPr/>
        </p:nvSpPr>
        <p:spPr>
          <a:xfrm>
            <a:off x="2511136" y="486016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Upgrade and Downgrade Triggers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5C4753-C9AC-3B42-A0E0-C78A443A9DC9}"/>
              </a:ext>
            </a:extLst>
          </p:cNvPr>
          <p:cNvSpPr txBox="1"/>
          <p:nvPr/>
        </p:nvSpPr>
        <p:spPr>
          <a:xfrm>
            <a:off x="7000636" y="6399336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Moody’s, S&amp;P</a:t>
            </a:r>
          </a:p>
        </p:txBody>
      </p:sp>
    </p:spTree>
    <p:extLst>
      <p:ext uri="{BB962C8B-B14F-4D97-AF65-F5344CB8AC3E}">
        <p14:creationId xmlns:p14="http://schemas.microsoft.com/office/powerpoint/2010/main" val="170427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2A1E-CD73-39AD-70BC-696B0B41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F0FFC08-22B0-AA5B-CF12-C5DBF6DDC0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F0FFC08-22B0-AA5B-CF12-C5DBF6DDC0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DDA02-1DEA-DF56-67AF-DAC6279299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7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46FE2B46-6D35-AF8E-4C5D-DFF76E76D9CE}"/>
              </a:ext>
            </a:extLst>
          </p:cNvPr>
          <p:cNvSpPr txBox="1">
            <a:spLocks/>
          </p:cNvSpPr>
          <p:nvPr/>
        </p:nvSpPr>
        <p:spPr>
          <a:xfrm>
            <a:off x="2511136" y="332128"/>
            <a:ext cx="488570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Capital Structure, Liquidity Model, and Credit Statistics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315ABDD3-0A2A-21E5-D87F-6555605816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143050-A02A-402D-24C2-B553461A7FCD}"/>
              </a:ext>
            </a:extLst>
          </p:cNvPr>
          <p:cNvSpPr txBox="1"/>
          <p:nvPr/>
        </p:nvSpPr>
        <p:spPr>
          <a:xfrm>
            <a:off x="5822619" y="640417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0DE939-5A62-93A5-A0F5-C95CFE3F1C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415" y="1183041"/>
            <a:ext cx="8383170" cy="32646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95C5A4-C66B-2DD0-5CD0-01869187EC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415" y="4569404"/>
            <a:ext cx="8383170" cy="17229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45428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AAB9-E3E2-9EFE-84BE-B5AD925A1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3E328-C9B7-6A6A-04FA-C9AE0A72DF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E18DC-BA0E-8249-864A-793536908CB6}"/>
              </a:ext>
            </a:extLst>
          </p:cNvPr>
          <p:cNvSpPr txBox="1"/>
          <p:nvPr/>
        </p:nvSpPr>
        <p:spPr>
          <a:xfrm>
            <a:off x="1431281" y="2967335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Investment Thesis</a:t>
            </a:r>
          </a:p>
        </p:txBody>
      </p:sp>
    </p:spTree>
    <p:extLst>
      <p:ext uri="{BB962C8B-B14F-4D97-AF65-F5344CB8AC3E}">
        <p14:creationId xmlns:p14="http://schemas.microsoft.com/office/powerpoint/2010/main" val="236907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5E15D-58AC-D324-F44A-A12BE35EC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859" y="470540"/>
            <a:ext cx="6520543" cy="30777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Geographic Breakdown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1931-2745-B1CD-6C28-5E263ECA3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466" y="4623555"/>
            <a:ext cx="4505350" cy="1169551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/>
          <a:lstStyle/>
          <a:p>
            <a:r>
              <a:rPr lang="en-US" sz="1600" b="1">
                <a:latin typeface="Palatino Linotype" panose="02040502050505030304" pitchFamily="18" charset="0"/>
              </a:rPr>
              <a:t>Geographic Reach: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latin typeface="Palatino Linotype" panose="02040502050505030304" pitchFamily="18" charset="0"/>
              </a:rPr>
              <a:t>Service locations across all 50 U.S. states, 9 Canadian provinces, and Puerto Rico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57CEA-26D2-E080-291A-B5DC4B739A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9</a:t>
            </a:fld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DEA13-0AE6-F9C9-9B22-7848F298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387" y="1067419"/>
            <a:ext cx="3836983" cy="23703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3E0131-D24D-8734-2147-816704448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386" y="3632665"/>
            <a:ext cx="3836983" cy="2254652"/>
          </a:xfrm>
          <a:prstGeom prst="rect">
            <a:avLst/>
          </a:prstGeom>
        </p:spPr>
      </p:pic>
      <p:pic>
        <p:nvPicPr>
          <p:cNvPr id="5" name="Picture 4" descr="Clean Harbors - Wikipedia">
            <a:extLst>
              <a:ext uri="{FF2B5EF4-FFF2-40B4-BE49-F238E27FC236}">
                <a16:creationId xmlns:a16="http://schemas.microsoft.com/office/drawing/2014/main" id="{F67E63B1-44DF-99BD-B80F-09017C991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672C280-6CF4-BB16-025C-0E40B954745C}"/>
              </a:ext>
            </a:extLst>
          </p:cNvPr>
          <p:cNvSpPr txBox="1">
            <a:spLocks/>
          </p:cNvSpPr>
          <p:nvPr/>
        </p:nvSpPr>
        <p:spPr>
          <a:xfrm>
            <a:off x="344466" y="1329663"/>
            <a:ext cx="4505350" cy="677108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anchor="ctr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kern="0">
                <a:solidFill>
                  <a:schemeClr val="bg1"/>
                </a:solidFill>
                <a:latin typeface="Palatino Linotype" panose="02040502050505030304" pitchFamily="18" charset="0"/>
              </a:rPr>
              <a:t>Only national provider offering a full breadth of environmental and industrial services.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C869B34-D623-D98D-3ED9-B2B6420B4913}"/>
              </a:ext>
            </a:extLst>
          </p:cNvPr>
          <p:cNvSpPr txBox="1">
            <a:spLocks/>
          </p:cNvSpPr>
          <p:nvPr/>
        </p:nvSpPr>
        <p:spPr>
          <a:xfrm>
            <a:off x="344466" y="2252598"/>
            <a:ext cx="4505350" cy="21544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Network of Disposal Assets: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10 hazardous waste incinerators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7 commercial landfill sites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33 Treatment, Storage &amp; Disposal Facilities (TSDFs)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11 Wastewater Treatment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Over 100 waste management facilities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Over 20,000 company vehicles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4D55F-1F3D-9469-E632-29E76DF65D8A}"/>
              </a:ext>
            </a:extLst>
          </p:cNvPr>
          <p:cNvSpPr txBox="1"/>
          <p:nvPr/>
        </p:nvSpPr>
        <p:spPr>
          <a:xfrm>
            <a:off x="5866461" y="3228801"/>
            <a:ext cx="2250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Disposal Assets</a:t>
            </a:r>
            <a:endParaRPr lang="en-US" sz="16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18B86-4256-7863-8A62-0FB8B5E5FC40}"/>
              </a:ext>
            </a:extLst>
          </p:cNvPr>
          <p:cNvSpPr txBox="1"/>
          <p:nvPr/>
        </p:nvSpPr>
        <p:spPr>
          <a:xfrm>
            <a:off x="5940316" y="5817894"/>
            <a:ext cx="210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0">
                <a:solidFill>
                  <a:sysClr val="windowText" lastClr="000000"/>
                </a:solidFill>
                <a:latin typeface="Palatino Linotype" panose="02040502050505030304" pitchFamily="18" charset="0"/>
              </a:rPr>
              <a:t>Service Locations</a:t>
            </a:r>
            <a:endParaRPr lang="en-US" sz="16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6D441-3676-3F56-B93E-13E928CA3256}"/>
              </a:ext>
            </a:extLst>
          </p:cNvPr>
          <p:cNvSpPr txBox="1"/>
          <p:nvPr/>
        </p:nvSpPr>
        <p:spPr>
          <a:xfrm>
            <a:off x="5822619" y="6414925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89015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802E9-A46F-E9A0-99D9-FECE7CE0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A998D73-822F-E8DB-E209-5AB3F7A8A0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A998D73-822F-E8DB-E209-5AB3F7A8A0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328FD-0E64-F9E2-2980-984736E1CF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3AD4E944-5C3B-C44F-B8F0-30206F230034}"/>
              </a:ext>
            </a:extLst>
          </p:cNvPr>
          <p:cNvSpPr txBox="1">
            <a:spLocks/>
          </p:cNvSpPr>
          <p:nvPr/>
        </p:nvSpPr>
        <p:spPr>
          <a:xfrm>
            <a:off x="2511136" y="270573"/>
            <a:ext cx="4885707" cy="7386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1600" kern="0">
                <a:solidFill>
                  <a:srgbClr val="C00000"/>
                </a:solidFill>
                <a:latin typeface="Palatino Linotype" panose="02040502050505030304" pitchFamily="18" charset="0"/>
              </a:rPr>
              <a:t>Thesis Point 1: </a:t>
            </a:r>
            <a:r>
              <a:rPr lang="en-US" sz="1600" kern="0">
                <a:solidFill>
                  <a:schemeClr val="tx1"/>
                </a:solidFill>
                <a:latin typeface="Palatino Linotype" panose="02040502050505030304" pitchFamily="18" charset="0"/>
              </a:rPr>
              <a:t>Durable Competitive Advantage Will Drive Strong Credit Metrics Through 2027 and Support a Potential Ratings Upgrade in 2027</a:t>
            </a:r>
            <a:endParaRPr lang="en-US" sz="1600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B83ABE-13CA-027D-6996-E5CA4087E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916472"/>
              </p:ext>
            </p:extLst>
          </p:nvPr>
        </p:nvGraphicFramePr>
        <p:xfrm>
          <a:off x="433136" y="1358373"/>
          <a:ext cx="8253663" cy="1911307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53663">
                  <a:extLst>
                    <a:ext uri="{9D8B030D-6E8A-4147-A177-3AD203B41FA5}">
                      <a16:colId xmlns:a16="http://schemas.microsoft.com/office/drawing/2014/main" val="3382783636"/>
                    </a:ext>
                  </a:extLst>
                </a:gridCol>
              </a:tblGrid>
              <a:tr h="3678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Scale and Infrastructure Advantage</a:t>
                      </a:r>
                    </a:p>
                  </a:txBody>
                  <a:tcPr marL="80391" marR="80391" marT="40196" marB="40196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371405"/>
                  </a:ext>
                </a:extLst>
              </a:tr>
              <a:tr h="1542179"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Scale drives operational leverage and pricing power, with utilization above 89% and margins near 19% EBITDA</a:t>
                      </a:r>
                      <a:endParaRPr lang="en-US" sz="8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The new Kimball incinerator (+70k tons capacity) boosts throughput and PFAS* destruction capability, supporting long-term growth and higher FCF generation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80391" marR="80391" marT="40196" marB="40196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4668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BA9C04-6B49-2C52-5882-58A75603C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786212"/>
              </p:ext>
            </p:extLst>
          </p:nvPr>
        </p:nvGraphicFramePr>
        <p:xfrm>
          <a:off x="4559967" y="3637419"/>
          <a:ext cx="4114799" cy="2532412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114799">
                  <a:extLst>
                    <a:ext uri="{9D8B030D-6E8A-4147-A177-3AD203B41FA5}">
                      <a16:colId xmlns:a16="http://schemas.microsoft.com/office/drawing/2014/main" val="3382783636"/>
                    </a:ext>
                  </a:extLst>
                </a:gridCol>
              </a:tblGrid>
              <a:tr h="50130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Oligopolistic Industry Structure</a:t>
                      </a:r>
                    </a:p>
                  </a:txBody>
                  <a:tcPr marL="80391" marR="80391" marT="40196" marB="40196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371405"/>
                  </a:ext>
                </a:extLst>
              </a:tr>
              <a:tr h="1760484"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Portfolio of 500+ permits, regulatory hurdles, and high upfront capital requirements limit new entrants and protects incumbents</a:t>
                      </a:r>
                    </a:p>
                    <a:p>
                      <a:pPr marL="171450" indent="-171450" algn="l" rtl="0" fontAlgn="base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Competitors such as Waste Management and GFL Environmental lack the same hazardous waste footprint</a:t>
                      </a:r>
                    </a:p>
                  </a:txBody>
                  <a:tcPr marL="80391" marR="80391" marT="40196" marB="40196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466831"/>
                  </a:ext>
                </a:extLst>
              </a:tr>
            </a:tbl>
          </a:graphicData>
        </a:graphic>
      </p:graphicFrame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990C212F-E78F-C1BD-8807-60A5A2B7D2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2469B2-A022-BC42-2D58-0F9AE079C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76050"/>
              </p:ext>
            </p:extLst>
          </p:nvPr>
        </p:nvGraphicFramePr>
        <p:xfrm>
          <a:off x="394929" y="3637418"/>
          <a:ext cx="3929410" cy="2532411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929410">
                  <a:extLst>
                    <a:ext uri="{9D8B030D-6E8A-4147-A177-3AD203B41FA5}">
                      <a16:colId xmlns:a16="http://schemas.microsoft.com/office/drawing/2014/main" val="3382783636"/>
                    </a:ext>
                  </a:extLst>
                </a:gridCol>
              </a:tblGrid>
              <a:tr h="549134">
                <a:tc>
                  <a:txBody>
                    <a:bodyPr/>
                    <a:lstStyle/>
                    <a:p>
                      <a:pPr lvl="0" algn="ctr">
                        <a:lnSpc>
                          <a:spcPts val="12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Palatino Linotype" panose="02040502050505030304" pitchFamily="18" charset="0"/>
                        </a:rPr>
                        <a:t>PFAS Expansion</a:t>
                      </a:r>
                    </a:p>
                  </a:txBody>
                  <a:tcPr marL="80391" marR="80391" marT="40196" marB="40196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371405"/>
                  </a:ext>
                </a:extLst>
              </a:tr>
              <a:tr h="1983277"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Only U.S. provider offering end-to-end PFAS lifecycle management, with &gt; 99.99% destruction efficiency</a:t>
                      </a:r>
                    </a:p>
                    <a:p>
                      <a:pPr marL="171450" indent="-171450" algn="l" rtl="0" fontAlgn="base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Regulatory framework tailwinds provide recurring revenue opportunities</a:t>
                      </a:r>
                    </a:p>
                  </a:txBody>
                  <a:tcPr marL="80391" marR="80391" marT="40196" marB="40196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63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4668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1BBA0A-3F4D-D5E0-885E-94510E470ACD}"/>
              </a:ext>
            </a:extLst>
          </p:cNvPr>
          <p:cNvSpPr txBox="1"/>
          <p:nvPr/>
        </p:nvSpPr>
        <p:spPr>
          <a:xfrm>
            <a:off x="394929" y="6228325"/>
            <a:ext cx="30155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Palatino Linotype" panose="02040502050505030304" pitchFamily="18" charset="0"/>
              </a:rPr>
              <a:t>*PFAS: per- and poly-fluorinated alkyl substances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D4227-F97C-7E9A-4D9C-12C7722088D3}"/>
              </a:ext>
            </a:extLst>
          </p:cNvPr>
          <p:cNvSpPr txBox="1"/>
          <p:nvPr/>
        </p:nvSpPr>
        <p:spPr>
          <a:xfrm>
            <a:off x="5822619" y="6414925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421768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6DDE-9237-538A-387F-CC10F364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4763860-0DA1-AA37-E10F-72433C83E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882" y="2914133"/>
            <a:ext cx="4051914" cy="27977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849AAC-D6F1-D66B-1198-97B5A1641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69" y="2914133"/>
            <a:ext cx="4073352" cy="28125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A9C6369-11F7-32A3-DEE7-F798C96FBDD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4" imgH="403" progId="TCLayout.ActiveDocument.1">
                  <p:embed/>
                </p:oleObj>
              </mc:Choice>
              <mc:Fallback>
                <p:oleObj name="think-cell Slide" r:id="rId7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A9C6369-11F7-32A3-DEE7-F798C96FB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DDE2-7062-5E6F-9F58-E5DC162E4D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11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F34AAFB-6D2E-7F73-4696-1D181F870804}"/>
              </a:ext>
            </a:extLst>
          </p:cNvPr>
          <p:cNvSpPr txBox="1">
            <a:spLocks/>
          </p:cNvSpPr>
          <p:nvPr/>
        </p:nvSpPr>
        <p:spPr>
          <a:xfrm>
            <a:off x="2511136" y="270573"/>
            <a:ext cx="4885707" cy="65787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1425" kern="0">
                <a:solidFill>
                  <a:srgbClr val="C00000"/>
                </a:solidFill>
                <a:latin typeface="Palatino Linotype" panose="02040502050505030304" pitchFamily="18" charset="0"/>
              </a:rPr>
              <a:t>Thesis Point 1: </a:t>
            </a:r>
            <a:r>
              <a:rPr lang="en-US" sz="1425" kern="0">
                <a:solidFill>
                  <a:schemeClr val="tx1"/>
                </a:solidFill>
                <a:latin typeface="Palatino Linotype" panose="02040502050505030304" pitchFamily="18" charset="0"/>
              </a:rPr>
              <a:t>Clean Harbor margin expansion, improving cash generation, and disciplined leverage management position CLH to exceed key upgrade thresholds.</a:t>
            </a:r>
            <a:endParaRPr lang="en-US" sz="1425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5B556138-8EB3-4C30-E25B-B0ACF34F69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7DC7CCA-BD22-742F-6F69-70E7B0F9B903}"/>
              </a:ext>
            </a:extLst>
          </p:cNvPr>
          <p:cNvSpPr/>
          <p:nvPr/>
        </p:nvSpPr>
        <p:spPr>
          <a:xfrm>
            <a:off x="374072" y="1144114"/>
            <a:ext cx="8312727" cy="300689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Palatino Linotype" panose="02040502050505030304" pitchFamily="18" charset="0"/>
              </a:rPr>
              <a:t>Dominant Competitive Positioning Allows CLH to Surpass Upgrade Triggers by 2027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0282DF9-B55E-0980-8A19-93E92E507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48382"/>
              </p:ext>
            </p:extLst>
          </p:nvPr>
        </p:nvGraphicFramePr>
        <p:xfrm>
          <a:off x="374071" y="1550154"/>
          <a:ext cx="8312725" cy="731520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15400">
                  <a:extLst>
                    <a:ext uri="{9D8B030D-6E8A-4147-A177-3AD203B41FA5}">
                      <a16:colId xmlns:a16="http://schemas.microsoft.com/office/drawing/2014/main" val="3782503828"/>
                    </a:ext>
                  </a:extLst>
                </a:gridCol>
                <a:gridCol w="731873">
                  <a:extLst>
                    <a:ext uri="{9D8B030D-6E8A-4147-A177-3AD203B41FA5}">
                      <a16:colId xmlns:a16="http://schemas.microsoft.com/office/drawing/2014/main" val="2607553504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382788127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537292463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645611653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294746537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556029915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905364367"/>
                    </a:ext>
                  </a:extLst>
                </a:gridCol>
                <a:gridCol w="923636">
                  <a:extLst>
                    <a:ext uri="{9D8B030D-6E8A-4147-A177-3AD203B41FA5}">
                      <a16:colId xmlns:a16="http://schemas.microsoft.com/office/drawing/2014/main" val="2448502136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chemeClr val="bg1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LTM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2025E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2026E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2027E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95444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EBITDA Margin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17.5%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19.7%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18.7%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19.0%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19.2%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19.4%</a:t>
                      </a:r>
                      <a:endParaRPr lang="en-US" sz="1600" b="0" i="0" u="none" strike="noStrike">
                        <a:solidFill>
                          <a:srgbClr val="0070C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21.6%</a:t>
                      </a:r>
                      <a:endParaRPr lang="en-US" sz="1600" b="0" i="0" u="none" strike="noStrike">
                        <a:solidFill>
                          <a:srgbClr val="0070C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22.4%</a:t>
                      </a:r>
                      <a:endParaRPr lang="en-US" sz="1600" b="0" i="0" u="none" strike="noStrike">
                        <a:solidFill>
                          <a:srgbClr val="0070C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104324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2106B31C-5DC7-148F-2B41-C4C28F4B14C1}"/>
              </a:ext>
            </a:extLst>
          </p:cNvPr>
          <p:cNvSpPr/>
          <p:nvPr/>
        </p:nvSpPr>
        <p:spPr>
          <a:xfrm>
            <a:off x="374069" y="2430874"/>
            <a:ext cx="8312727" cy="37790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Palatino Linotype" panose="02040502050505030304" pitchFamily="18" charset="0"/>
              </a:rPr>
              <a:t>Increasing volumes, margins, and synergies should drive EBITDA margins toward 25%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BE3199-E50B-A2D1-3C28-3573166AF305}"/>
              </a:ext>
            </a:extLst>
          </p:cNvPr>
          <p:cNvSpPr/>
          <p:nvPr/>
        </p:nvSpPr>
        <p:spPr>
          <a:xfrm>
            <a:off x="413492" y="5855957"/>
            <a:ext cx="8312727" cy="3779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latin typeface="Palatino Linotype" panose="02040502050505030304" pitchFamily="18" charset="0"/>
              </a:rPr>
              <a:t>Gross leverage is expected to be &lt;3.0x and FOCF/Debt is expected to be &gt;20% in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325A6-3E23-E342-A29B-9858F2FBA06E}"/>
              </a:ext>
            </a:extLst>
          </p:cNvPr>
          <p:cNvSpPr txBox="1"/>
          <p:nvPr/>
        </p:nvSpPr>
        <p:spPr>
          <a:xfrm>
            <a:off x="5822619" y="641468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0654969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A104-F922-5A91-EF5E-4EF7C729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807425F-13EC-1FFB-2D0B-B5BA11655D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807425F-13EC-1FFB-2D0B-B5BA11655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18A8-CC0E-8CE4-312C-A0BE502119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98722"/>
            <a:ext cx="2103120" cy="276999"/>
          </a:xfrm>
        </p:spPr>
        <p:txBody>
          <a:bodyPr/>
          <a:lstStyle/>
          <a:p>
            <a:r>
              <a:rPr lang="en-US">
                <a:latin typeface="Palatino Linotype" panose="02040502050505030304" pitchFamily="18" charset="0"/>
              </a:rPr>
              <a:t>12</a:t>
            </a: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50F47554-52CE-0FC8-BD83-68E666351293}"/>
              </a:ext>
            </a:extLst>
          </p:cNvPr>
          <p:cNvSpPr txBox="1">
            <a:spLocks/>
          </p:cNvSpPr>
          <p:nvPr/>
        </p:nvSpPr>
        <p:spPr>
          <a:xfrm>
            <a:off x="2511136" y="273552"/>
            <a:ext cx="488570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1600" kern="0">
                <a:solidFill>
                  <a:srgbClr val="C00000"/>
                </a:solidFill>
                <a:latin typeface="Palatino Linotype" panose="02040502050505030304" pitchFamily="18" charset="0"/>
              </a:rPr>
              <a:t>Thesis Point 2: </a:t>
            </a:r>
            <a:r>
              <a:rPr lang="en-US" sz="1600" kern="0">
                <a:solidFill>
                  <a:schemeClr val="tx1"/>
                </a:solidFill>
                <a:latin typeface="Palatino Linotype" panose="02040502050505030304" pitchFamily="18" charset="0"/>
              </a:rPr>
              <a:t>Clean Harbors Will be Able to Maintain its Strong Credit Profile Even After Financing 2026 and 2027 Acquisitions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D79EA8-7799-E281-2868-67D3AFB2BAFE}"/>
              </a:ext>
            </a:extLst>
          </p:cNvPr>
          <p:cNvSpPr/>
          <p:nvPr/>
        </p:nvSpPr>
        <p:spPr>
          <a:xfrm>
            <a:off x="372980" y="1667287"/>
            <a:ext cx="8313819" cy="112676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Clean Harbors historically acquires companies under $1.4bn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Prior acquisitions were funded using 70% - 100% debt and the remainder with existing cash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We have generated an estimated range of acquisition funding needs over the next 2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The chart below shows the possible financing mixes for 2 years of consecutive acquisitions that would result in a ~2.0x net leverage ratio (management’s target) highlighted in green</a:t>
            </a:r>
          </a:p>
        </p:txBody>
      </p:sp>
      <p:pic>
        <p:nvPicPr>
          <p:cNvPr id="4" name="Picture 3" descr="Clean Harbors - Wikipedia">
            <a:extLst>
              <a:ext uri="{FF2B5EF4-FFF2-40B4-BE49-F238E27FC236}">
                <a16:creationId xmlns:a16="http://schemas.microsoft.com/office/drawing/2014/main" id="{999F1230-8EFB-6D8C-45D8-6F25CD390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348F73-B165-2A52-533C-BFDD30D775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56" y="3737332"/>
            <a:ext cx="7935685" cy="2547075"/>
          </a:xfrm>
          <a:prstGeom prst="rect">
            <a:avLst/>
          </a:prstGeom>
          <a:ln w="9525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64BFB06-3CD7-016E-CAD2-CCB746AD2AF1}"/>
              </a:ext>
            </a:extLst>
          </p:cNvPr>
          <p:cNvSpPr/>
          <p:nvPr/>
        </p:nvSpPr>
        <p:spPr>
          <a:xfrm>
            <a:off x="372980" y="1188042"/>
            <a:ext cx="8313820" cy="334148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Palatino Linotype" panose="02040502050505030304" pitchFamily="18" charset="0"/>
              </a:rPr>
              <a:t>There is a Clear Path to Maintaining 2.0x Net Leverage Over the Next 2 Years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71E0A-7834-A1A1-D512-F49668D316D8}"/>
              </a:ext>
            </a:extLst>
          </p:cNvPr>
          <p:cNvSpPr txBox="1"/>
          <p:nvPr/>
        </p:nvSpPr>
        <p:spPr>
          <a:xfrm>
            <a:off x="3654287" y="3392136"/>
            <a:ext cx="1988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Palatino Linotype" panose="02040502050505030304" pitchFamily="18" charset="0"/>
              </a:rPr>
              <a:t>2-Year Debt Financing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AFF62-87D0-39EE-FE99-3691BB2DFD56}"/>
              </a:ext>
            </a:extLst>
          </p:cNvPr>
          <p:cNvSpPr txBox="1"/>
          <p:nvPr/>
        </p:nvSpPr>
        <p:spPr>
          <a:xfrm rot="16200000">
            <a:off x="-868783" y="4826897"/>
            <a:ext cx="2700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Palatino Linotype" panose="02040502050505030304" pitchFamily="18" charset="0"/>
              </a:rPr>
              <a:t>2-Year Existing Cash Financing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52335-5473-BD6C-A8DF-F4B858F0805B}"/>
              </a:ext>
            </a:extLst>
          </p:cNvPr>
          <p:cNvSpPr/>
          <p:nvPr/>
        </p:nvSpPr>
        <p:spPr>
          <a:xfrm>
            <a:off x="372979" y="2939152"/>
            <a:ext cx="8313820" cy="362964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kern="0">
                <a:solidFill>
                  <a:schemeClr val="bg1"/>
                </a:solidFill>
                <a:latin typeface="Palatino Linotype" panose="02040502050505030304" pitchFamily="18" charset="0"/>
              </a:rPr>
              <a:t>Commitment to ~2.0x net leverage limits acquisition credit risk through 2027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6D396-84EA-9A82-AFEC-3EFE5A587E1E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9376985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D900-A68D-1A83-7FC7-97ABC78C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2765B49-5805-2753-8242-04A731FD44F5}"/>
              </a:ext>
            </a:extLst>
          </p:cNvPr>
          <p:cNvSpPr/>
          <p:nvPr/>
        </p:nvSpPr>
        <p:spPr>
          <a:xfrm>
            <a:off x="2511136" y="2059067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3CF704A-FD9A-05E2-D383-291F8420AC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3CF704A-FD9A-05E2-D383-291F8420AC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CED12-D538-5CCB-AE6A-A3B410D063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13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C0F0FA0C-580D-79EA-7FAF-E705A504C2D1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251864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Risks and Mitigants</a:t>
            </a:r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787A2B-E49C-496C-242E-66974FBEA423}"/>
              </a:ext>
            </a:extLst>
          </p:cNvPr>
          <p:cNvSpPr/>
          <p:nvPr/>
        </p:nvSpPr>
        <p:spPr>
          <a:xfrm>
            <a:off x="2511136" y="3667006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26D87A-C156-77CA-59DC-190D9D941192}"/>
              </a:ext>
            </a:extLst>
          </p:cNvPr>
          <p:cNvSpPr/>
          <p:nvPr/>
        </p:nvSpPr>
        <p:spPr>
          <a:xfrm>
            <a:off x="427156" y="1697932"/>
            <a:ext cx="2280272" cy="1331870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Leverage and Debt-Financed M&amp;A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518E57-A53D-477F-8476-354D810FBC85}"/>
              </a:ext>
            </a:extLst>
          </p:cNvPr>
          <p:cNvSpPr/>
          <p:nvPr/>
        </p:nvSpPr>
        <p:spPr>
          <a:xfrm>
            <a:off x="2913936" y="1697933"/>
            <a:ext cx="5772862" cy="13318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  <a:ea typeface="Calibri"/>
                <a:cs typeface="Calibri"/>
              </a:rPr>
              <a:t>Management is committed to maintaining net leverage below 2.0x as well as bolstering liquidity through generating FCF to fund the equity portion of acquisition financing.</a:t>
            </a:r>
            <a:endParaRPr lang="en-US">
              <a:latin typeface="Palatino Linotype" panose="02040502050505030304" pitchFamily="18" charset="0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398F8-7C10-4F52-6B1D-C825CD694055}"/>
              </a:ext>
            </a:extLst>
          </p:cNvPr>
          <p:cNvSpPr/>
          <p:nvPr/>
        </p:nvSpPr>
        <p:spPr>
          <a:xfrm>
            <a:off x="2913934" y="3228596"/>
            <a:ext cx="5772862" cy="14906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CLH revised its SKSS pricing model and implemented new stop-fees to stabilize margins in a softening oil and lubricants market.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439976-C8D2-474A-72B7-C88E64CFD650}"/>
              </a:ext>
            </a:extLst>
          </p:cNvPr>
          <p:cNvSpPr/>
          <p:nvPr/>
        </p:nvSpPr>
        <p:spPr>
          <a:xfrm>
            <a:off x="2587440" y="5266262"/>
            <a:ext cx="652978" cy="6096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C18CBB-F2AE-A452-6EE6-AD57C3CF4173}"/>
              </a:ext>
            </a:extLst>
          </p:cNvPr>
          <p:cNvSpPr/>
          <p:nvPr/>
        </p:nvSpPr>
        <p:spPr>
          <a:xfrm>
            <a:off x="2913932" y="4918087"/>
            <a:ext cx="5772863" cy="13059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Tightening environmental regulatory changes drives service demand for hazardous waste treatment and destruction, especially with the expected PFAS regulatory framework.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28CD8C-C148-ED9D-8558-426C149316E4}"/>
              </a:ext>
            </a:extLst>
          </p:cNvPr>
          <p:cNvSpPr/>
          <p:nvPr/>
        </p:nvSpPr>
        <p:spPr>
          <a:xfrm>
            <a:off x="427156" y="3228593"/>
            <a:ext cx="2280272" cy="1490697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Cyclical Exposures in SKSS Segment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1DFDF9-EB3E-24C8-0DD0-633412FA36BC}"/>
              </a:ext>
            </a:extLst>
          </p:cNvPr>
          <p:cNvSpPr/>
          <p:nvPr/>
        </p:nvSpPr>
        <p:spPr>
          <a:xfrm>
            <a:off x="427156" y="4918081"/>
            <a:ext cx="2280272" cy="1305963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Regulatory and Environmental Liability Risk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805690-B12A-6C1D-344A-EEC989928291}"/>
              </a:ext>
            </a:extLst>
          </p:cNvPr>
          <p:cNvSpPr/>
          <p:nvPr/>
        </p:nvSpPr>
        <p:spPr>
          <a:xfrm>
            <a:off x="427156" y="1191362"/>
            <a:ext cx="2280272" cy="30777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Palatino Linotype" panose="02040502050505030304" pitchFamily="18" charset="0"/>
              </a:rPr>
              <a:t>Risks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432E9C-592E-0568-DEF8-C9CEB4A4165B}"/>
              </a:ext>
            </a:extLst>
          </p:cNvPr>
          <p:cNvSpPr/>
          <p:nvPr/>
        </p:nvSpPr>
        <p:spPr>
          <a:xfrm>
            <a:off x="2913932" y="1191361"/>
            <a:ext cx="5772865" cy="307779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Palatino Linotype" panose="02040502050505030304" pitchFamily="18" charset="0"/>
                <a:ea typeface="Calibri"/>
                <a:cs typeface="Calibri"/>
              </a:rPr>
              <a:t>Mitigants</a:t>
            </a:r>
          </a:p>
        </p:txBody>
      </p:sp>
      <p:pic>
        <p:nvPicPr>
          <p:cNvPr id="19" name="Picture 18" descr="Clean Harbors - Wikipedia">
            <a:extLst>
              <a:ext uri="{FF2B5EF4-FFF2-40B4-BE49-F238E27FC236}">
                <a16:creationId xmlns:a16="http://schemas.microsoft.com/office/drawing/2014/main" id="{019F9BFF-8FE8-7920-2BC7-926802BE7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B0D46D-137C-9F3F-7946-EC9D29D958D4}"/>
              </a:ext>
            </a:extLst>
          </p:cNvPr>
          <p:cNvSpPr txBox="1"/>
          <p:nvPr/>
        </p:nvSpPr>
        <p:spPr>
          <a:xfrm>
            <a:off x="5822619" y="6414925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07403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00FF-11F4-E67A-EB2A-0335079D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0B34E-3536-A5D7-BA19-B11785E4ED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514E7-0C66-C476-1AC6-A2CA6D8D5C42}"/>
              </a:ext>
            </a:extLst>
          </p:cNvPr>
          <p:cNvSpPr txBox="1"/>
          <p:nvPr/>
        </p:nvSpPr>
        <p:spPr>
          <a:xfrm>
            <a:off x="1431281" y="3075057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Valuation</a:t>
            </a:r>
            <a:endParaRPr lang="en-US" sz="3600" b="1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31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25C0-3FAF-1EC2-1079-7A0FC88B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18E7642-D880-159F-348A-5A5382ECC4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18E7642-D880-159F-348A-5A5382ECC4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20590-FC18-E366-7289-6A3661485B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FE074207-FA50-73CA-D470-661DA82EFAA6}"/>
              </a:ext>
            </a:extLst>
          </p:cNvPr>
          <p:cNvSpPr txBox="1">
            <a:spLocks/>
          </p:cNvSpPr>
          <p:nvPr/>
        </p:nvSpPr>
        <p:spPr>
          <a:xfrm>
            <a:off x="2511136" y="345900"/>
            <a:ext cx="488570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Clean Harbors Has a Strong Credit Profile vs. Industry Peers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4C84C4-3491-81B3-E93E-B5E0200A49B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02136862"/>
              </p:ext>
            </p:extLst>
          </p:nvPr>
        </p:nvGraphicFramePr>
        <p:xfrm>
          <a:off x="403763" y="1206058"/>
          <a:ext cx="8283037" cy="506292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435473">
                  <a:extLst>
                    <a:ext uri="{9D8B030D-6E8A-4147-A177-3AD203B41FA5}">
                      <a16:colId xmlns:a16="http://schemas.microsoft.com/office/drawing/2014/main" val="2289953507"/>
                    </a:ext>
                  </a:extLst>
                </a:gridCol>
                <a:gridCol w="1711891">
                  <a:extLst>
                    <a:ext uri="{9D8B030D-6E8A-4147-A177-3AD203B41FA5}">
                      <a16:colId xmlns:a16="http://schemas.microsoft.com/office/drawing/2014/main" val="3062823852"/>
                    </a:ext>
                  </a:extLst>
                </a:gridCol>
                <a:gridCol w="1711891">
                  <a:extLst>
                    <a:ext uri="{9D8B030D-6E8A-4147-A177-3AD203B41FA5}">
                      <a16:colId xmlns:a16="http://schemas.microsoft.com/office/drawing/2014/main" val="3655087526"/>
                    </a:ext>
                  </a:extLst>
                </a:gridCol>
                <a:gridCol w="1711891">
                  <a:extLst>
                    <a:ext uri="{9D8B030D-6E8A-4147-A177-3AD203B41FA5}">
                      <a16:colId xmlns:a16="http://schemas.microsoft.com/office/drawing/2014/main" val="2929648212"/>
                    </a:ext>
                  </a:extLst>
                </a:gridCol>
                <a:gridCol w="1711891">
                  <a:extLst>
                    <a:ext uri="{9D8B030D-6E8A-4147-A177-3AD203B41FA5}">
                      <a16:colId xmlns:a16="http://schemas.microsoft.com/office/drawing/2014/main" val="4196618143"/>
                    </a:ext>
                  </a:extLst>
                </a:gridCol>
              </a:tblGrid>
              <a:tr h="490929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Ecolab, Inc.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(ECL)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Waste Management, Inc. (WM)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Clean Harbors, Inc. (CLH)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GFL Environmental (GFL)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948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Ratings (Outlook)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A3/A-/A-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(S/S/S)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A3/A-/A-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(S/N/S)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Ba1/BB+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Ba3/BB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1065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Market Cap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$75.64bn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$87.27bn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$11.60bn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$22.8bn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6772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Revenue (LTM)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$15.89bn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$24.78bn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$5.96bn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$6.92bn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940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EBITDA (LTM)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$3.71bn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$7.25bn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$1.15bn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$1.89bn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74801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EBITDA Margin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23.4%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29.2%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19.2%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27.3%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8741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EV/EBITDA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22.2x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15.2x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11.9x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16.3x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5508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Total Debt (LTM)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$8.83bn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$2.40bn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$3.02bn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$7.87bn</a:t>
                      </a:r>
                      <a:endParaRPr lang="en-US" sz="120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63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Free Cash Flow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$1.55bn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$2.16bn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$399.55mn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$431.50mn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302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Total Debt/EBITDA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2.48x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3.43x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2.42x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3.92x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3345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Net Debt/EBITDA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1.93x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3.40x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1.90x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C00000"/>
                          </a:solidFill>
                          <a:latin typeface="Palatino Linotype" panose="02040502050505030304" pitchFamily="18" charset="0"/>
                        </a:rPr>
                        <a:t>3.83x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50048"/>
                  </a:ext>
                </a:extLst>
              </a:tr>
            </a:tbl>
          </a:graphicData>
        </a:graphic>
      </p:graphicFrame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6B6E4194-7450-1AE4-8C78-319F68008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0C1FA3-A62D-1A0D-3D58-6A3C9E73BB8B}"/>
              </a:ext>
            </a:extLst>
          </p:cNvPr>
          <p:cNvSpPr txBox="1"/>
          <p:nvPr/>
        </p:nvSpPr>
        <p:spPr>
          <a:xfrm>
            <a:off x="5822619" y="6414925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227143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6A325-10E1-3DF3-7F08-3188FA62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9550E1-7226-A4CC-AEE5-C50C15CB7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9550E1-7226-A4CC-AEE5-C50C15CB7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581A7-F1FA-5736-6B0A-661CAE4DE0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29CAAE0D-6CAB-27D3-1B0A-21BD9206E9D4}"/>
              </a:ext>
            </a:extLst>
          </p:cNvPr>
          <p:cNvSpPr txBox="1">
            <a:spLocks/>
          </p:cNvSpPr>
          <p:nvPr/>
        </p:nvSpPr>
        <p:spPr>
          <a:xfrm>
            <a:off x="2511136" y="486016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Comparable Bonds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ADCC26-3739-7DF5-2086-EDFDE6005FC5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2031583"/>
              </p:ext>
            </p:extLst>
          </p:nvPr>
        </p:nvGraphicFramePr>
        <p:xfrm>
          <a:off x="403763" y="1216301"/>
          <a:ext cx="8283036" cy="410588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079804">
                  <a:extLst>
                    <a:ext uri="{9D8B030D-6E8A-4147-A177-3AD203B41FA5}">
                      <a16:colId xmlns:a16="http://schemas.microsoft.com/office/drawing/2014/main" val="2289953507"/>
                    </a:ext>
                  </a:extLst>
                </a:gridCol>
                <a:gridCol w="1800808">
                  <a:extLst>
                    <a:ext uri="{9D8B030D-6E8A-4147-A177-3AD203B41FA5}">
                      <a16:colId xmlns:a16="http://schemas.microsoft.com/office/drawing/2014/main" val="3062823852"/>
                    </a:ext>
                  </a:extLst>
                </a:gridCol>
                <a:gridCol w="1800808">
                  <a:extLst>
                    <a:ext uri="{9D8B030D-6E8A-4147-A177-3AD203B41FA5}">
                      <a16:colId xmlns:a16="http://schemas.microsoft.com/office/drawing/2014/main" val="3655087526"/>
                    </a:ext>
                  </a:extLst>
                </a:gridCol>
                <a:gridCol w="1800808">
                  <a:extLst>
                    <a:ext uri="{9D8B030D-6E8A-4147-A177-3AD203B41FA5}">
                      <a16:colId xmlns:a16="http://schemas.microsoft.com/office/drawing/2014/main" val="2929648212"/>
                    </a:ext>
                  </a:extLst>
                </a:gridCol>
                <a:gridCol w="1800808">
                  <a:extLst>
                    <a:ext uri="{9D8B030D-6E8A-4147-A177-3AD203B41FA5}">
                      <a16:colId xmlns:a16="http://schemas.microsoft.com/office/drawing/2014/main" val="4196618143"/>
                    </a:ext>
                  </a:extLst>
                </a:gridCol>
              </a:tblGrid>
              <a:tr h="483390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ECL 1.3% 01/30/2031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WM 4.95% 07/03/2031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CLH 6.375% 02/01/31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GFLCN 6.75% 01/15/31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94868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Ratings (Outlook)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A3/A-/A-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(S/S/S)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A3/A-/A-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(S/N/S)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Ba1/BB+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Ba3/BB </a:t>
                      </a:r>
                    </a:p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(S/S)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1065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Rank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Sr. Unsecured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Sr. Unsecured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Sr. Unsecured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Sr. Unsecured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677218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Price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86.62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103.64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102.32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104.65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9408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Amount Outstanding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600mn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750mn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Palatino Linotype" panose="02040502050505030304" pitchFamily="18" charset="0"/>
                        </a:rPr>
                        <a:t>500mn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1.8bn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748015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Modified Duration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4.89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4.66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Palatino Linotype" panose="02040502050505030304" pitchFamily="18" charset="0"/>
                        </a:rPr>
                        <a:t>1.99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2.76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874119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latin typeface="Palatino Linotype" panose="02040502050505030304" pitchFamily="18" charset="0"/>
                        </a:rPr>
                        <a:t>YTW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4.20%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4.20%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Palatino Linotype" panose="02040502050505030304" pitchFamily="18" charset="0"/>
                        </a:rPr>
                        <a:t>5.23%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Palatino Linotype" panose="02040502050505030304" pitchFamily="18" charset="0"/>
                        </a:rPr>
                        <a:t>5.13%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6322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OAS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90 bps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88 bps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176 bps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162 bps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334585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5Y CDS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N/A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56 bps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N/A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Palatino Linotype" panose="02040502050505030304" pitchFamily="18" charset="0"/>
                        </a:rPr>
                        <a:t>76 bps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50048"/>
                  </a:ext>
                </a:extLst>
              </a:tr>
            </a:tbl>
          </a:graphicData>
        </a:graphic>
      </p:graphicFrame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C47CB2DF-D424-73E0-9F33-159C3CCFD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33A4CE-4BAA-09F6-D5C7-D2CD2BF2DA91}"/>
              </a:ext>
            </a:extLst>
          </p:cNvPr>
          <p:cNvSpPr/>
          <p:nvPr/>
        </p:nvSpPr>
        <p:spPr>
          <a:xfrm>
            <a:off x="403763" y="5483389"/>
            <a:ext cx="8283038" cy="41519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Palatino Linotype" panose="02040502050505030304" pitchFamily="18" charset="0"/>
              </a:rPr>
              <a:t>BB index trades at an OAS of 231 bps and BBB index trades at an OAS of 125 bps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C3D96-A7E8-6B78-E458-CDA21F80ABA9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315999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739F-D861-0773-D3ED-462A67BD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4248F3B-A4CE-7F5E-BCB9-805D9E5DE4F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4248F3B-A4CE-7F5E-BCB9-805D9E5DE4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0D8E-DD50-2969-15D0-6A0BC00AEE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17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A4C218A-682E-166D-A61B-CAFC2F80ABF2}"/>
              </a:ext>
            </a:extLst>
          </p:cNvPr>
          <p:cNvSpPr txBox="1">
            <a:spLocks/>
          </p:cNvSpPr>
          <p:nvPr/>
        </p:nvSpPr>
        <p:spPr>
          <a:xfrm>
            <a:off x="2511136" y="332128"/>
            <a:ext cx="488570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CLH 31s Offer an Attractive 2Y Holding Period Return With a Skew to Upside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FA1BBF24-A6E2-2198-B350-605DE4FB4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3E025D1-20D0-D4AE-E392-8EC680EC9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384185"/>
              </p:ext>
            </p:extLst>
          </p:nvPr>
        </p:nvGraphicFramePr>
        <p:xfrm>
          <a:off x="464622" y="1227938"/>
          <a:ext cx="8214758" cy="127291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74026">
                  <a:extLst>
                    <a:ext uri="{9D8B030D-6E8A-4147-A177-3AD203B41FA5}">
                      <a16:colId xmlns:a16="http://schemas.microsoft.com/office/drawing/2014/main" val="1358448905"/>
                    </a:ext>
                  </a:extLst>
                </a:gridCol>
                <a:gridCol w="1735183">
                  <a:extLst>
                    <a:ext uri="{9D8B030D-6E8A-4147-A177-3AD203B41FA5}">
                      <a16:colId xmlns:a16="http://schemas.microsoft.com/office/drawing/2014/main" val="1466930279"/>
                    </a:ext>
                  </a:extLst>
                </a:gridCol>
                <a:gridCol w="1735183">
                  <a:extLst>
                    <a:ext uri="{9D8B030D-6E8A-4147-A177-3AD203B41FA5}">
                      <a16:colId xmlns:a16="http://schemas.microsoft.com/office/drawing/2014/main" val="3556841350"/>
                    </a:ext>
                  </a:extLst>
                </a:gridCol>
                <a:gridCol w="1735183">
                  <a:extLst>
                    <a:ext uri="{9D8B030D-6E8A-4147-A177-3AD203B41FA5}">
                      <a16:colId xmlns:a16="http://schemas.microsoft.com/office/drawing/2014/main" val="3179477369"/>
                    </a:ext>
                  </a:extLst>
                </a:gridCol>
                <a:gridCol w="1735183">
                  <a:extLst>
                    <a:ext uri="{9D8B030D-6E8A-4147-A177-3AD203B41FA5}">
                      <a16:colId xmlns:a16="http://schemas.microsoft.com/office/drawing/2014/main" val="1091604802"/>
                    </a:ext>
                  </a:extLst>
                </a:gridCol>
              </a:tblGrid>
              <a:tr h="377377"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Bear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2027 Call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4052"/>
                  </a:ext>
                </a:extLst>
              </a:tr>
              <a:tr h="377377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∆OAS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Palatino Linotype" panose="02040502050505030304" pitchFamily="18" charset="0"/>
                        </a:rPr>
                        <a:t>- 50 bps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Palatino Linotype" panose="02040502050505030304" pitchFamily="18" charset="0"/>
                        </a:rPr>
                        <a:t>- 25 bps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Palatino Linotype" panose="02040502050505030304" pitchFamily="18" charset="0"/>
                        </a:rPr>
                        <a:t>+ 25 bps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Palatino Linotype" panose="02040502050505030304" pitchFamily="18" charset="0"/>
                        </a:rPr>
                        <a:t>@ 102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92840"/>
                  </a:ext>
                </a:extLst>
              </a:tr>
              <a:tr h="37737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Palatino Linotype" panose="02040502050505030304" pitchFamily="18" charset="0"/>
                        </a:rPr>
                        <a:t>2Y HPR (Annualized)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6.42%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6.10%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5.43%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latin typeface="Palatino Linotype" panose="02040502050505030304" pitchFamily="18" charset="0"/>
                        </a:rPr>
                        <a:t>5.63%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81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2B10F4C-7545-631A-4BB7-67CED6ECEA22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589D2E-5F29-2E4C-3786-C5F0523D5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9736" y="2601775"/>
            <a:ext cx="5624527" cy="37907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8888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D80D8-77B3-B19D-3F0C-1A85B1B9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6C385FD-18C0-47BE-EAAB-6FEAAA4C3F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6C385FD-18C0-47BE-EAAB-6FEAAA4C3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17361-05AD-67EB-38AE-2AF6F8B11A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0B5100A-B0A1-F728-F228-2D7BBCF3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136" y="486017"/>
            <a:ext cx="6497782" cy="369332"/>
          </a:xfrm>
        </p:spPr>
        <p:txBody>
          <a:bodyPr/>
          <a:lstStyle/>
          <a:p>
            <a:r>
              <a:rPr lang="en-US" sz="2400">
                <a:solidFill>
                  <a:srgbClr val="00B050"/>
                </a:solidFill>
                <a:latin typeface="Palatino Linotype" panose="02040502050505030304" pitchFamily="18" charset="0"/>
              </a:rPr>
              <a:t>Buy</a:t>
            </a:r>
            <a:r>
              <a:rPr lang="en-US" sz="2400">
                <a:solidFill>
                  <a:schemeClr val="tx1"/>
                </a:solidFill>
                <a:latin typeface="Palatino Linotype" panose="02040502050505030304" pitchFamily="18" charset="0"/>
              </a:rPr>
              <a:t> CLH 6.375% 2/01/31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49617-D246-2924-7101-77FF17FD18AE}"/>
              </a:ext>
            </a:extLst>
          </p:cNvPr>
          <p:cNvSpPr/>
          <p:nvPr/>
        </p:nvSpPr>
        <p:spPr>
          <a:xfrm>
            <a:off x="355764" y="1347007"/>
            <a:ext cx="4310743" cy="551543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kern="0">
                <a:solidFill>
                  <a:schemeClr val="bg1"/>
                </a:solidFill>
                <a:latin typeface="Palatino Linotype" panose="02040502050505030304" pitchFamily="18" charset="0"/>
              </a:rPr>
              <a:t>Investment Summary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649CF-6BD8-42CA-8A45-782F4505DDC5}"/>
              </a:ext>
            </a:extLst>
          </p:cNvPr>
          <p:cNvSpPr/>
          <p:nvPr/>
        </p:nvSpPr>
        <p:spPr>
          <a:xfrm>
            <a:off x="355763" y="2018121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1: </a:t>
            </a:r>
          </a:p>
          <a:p>
            <a:endParaRPr lang="en-US" b="1" kern="0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Durable Competitive Advantage Will Drive Strong Credit Metrics Through 2027 and Support a Potential Ratings Upgrade in 2027</a:t>
            </a:r>
            <a:endParaRPr lang="en-US" kern="0">
              <a:solidFill>
                <a:schemeClr val="tx1"/>
              </a:solidFill>
              <a:latin typeface="Palatino Linotype" panose="02040502050505030304" pitchFamily="18" charset="0"/>
              <a:ea typeface="Calibri"/>
            </a:endParaRP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D7213-399F-2CEC-7F00-A7E951FDEF4B}"/>
              </a:ext>
            </a:extLst>
          </p:cNvPr>
          <p:cNvSpPr/>
          <p:nvPr/>
        </p:nvSpPr>
        <p:spPr>
          <a:xfrm>
            <a:off x="355764" y="4155179"/>
            <a:ext cx="4310743" cy="201748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Thesis 2:</a:t>
            </a:r>
          </a:p>
          <a:p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Clean Harbors Will be Able to Maintain its Strong Credit Profile Even After Financing 2026 and 2027 Acquisitions</a:t>
            </a:r>
            <a:endParaRPr lang="en-US" b="1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11" name="Picture 10" descr="Clean Harbors - Wikipedia">
            <a:extLst>
              <a:ext uri="{FF2B5EF4-FFF2-40B4-BE49-F238E27FC236}">
                <a16:creationId xmlns:a16="http://schemas.microsoft.com/office/drawing/2014/main" id="{6DFA1B41-ECD0-95CB-C13A-6E9C96ED6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A27EAA3-3C34-1D0C-A8CE-E0F50EC4BEE3}"/>
              </a:ext>
            </a:extLst>
          </p:cNvPr>
          <p:cNvGraphicFramePr>
            <a:graphicFrameLocks noGrp="1"/>
          </p:cNvGraphicFramePr>
          <p:nvPr/>
        </p:nvGraphicFramePr>
        <p:xfrm>
          <a:off x="4859012" y="4155179"/>
          <a:ext cx="3922296" cy="20174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97248">
                  <a:extLst>
                    <a:ext uri="{9D8B030D-6E8A-4147-A177-3AD203B41FA5}">
                      <a16:colId xmlns:a16="http://schemas.microsoft.com/office/drawing/2014/main" val="1358448905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1466930279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556841350"/>
                    </a:ext>
                  </a:extLst>
                </a:gridCol>
                <a:gridCol w="875016">
                  <a:extLst>
                    <a:ext uri="{9D8B030D-6E8A-4147-A177-3AD203B41FA5}">
                      <a16:colId xmlns:a16="http://schemas.microsoft.com/office/drawing/2014/main" val="3179477369"/>
                    </a:ext>
                  </a:extLst>
                </a:gridCol>
              </a:tblGrid>
              <a:tr h="572113">
                <a:tc>
                  <a:txBody>
                    <a:bodyPr/>
                    <a:lstStyle/>
                    <a:p>
                      <a:pPr algn="ctr"/>
                      <a:endParaRPr lang="en-US" sz="1600">
                        <a:solidFill>
                          <a:schemeClr val="bg1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Bull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/>
                          </a:solidFill>
                          <a:latin typeface="Palatino Linotype" panose="02040502050505030304" pitchFamily="18" charset="0"/>
                        </a:rPr>
                        <a:t>Bear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874052"/>
                  </a:ext>
                </a:extLst>
              </a:tr>
              <a:tr h="144537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Palatino Linotype" panose="02040502050505030304" pitchFamily="18" charset="0"/>
                        </a:rPr>
                        <a:t>2Y HPR (Annualized)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6.42%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4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6.10%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Palatino Linotype" panose="02040502050505030304" pitchFamily="18" charset="0"/>
                        </a:rPr>
                        <a:t>5.43%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C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9284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8695BFA-B81E-DB8E-09D1-EECF346BFE24}"/>
              </a:ext>
            </a:extLst>
          </p:cNvPr>
          <p:cNvGraphicFramePr>
            <a:graphicFrameLocks noGrp="1"/>
          </p:cNvGraphicFramePr>
          <p:nvPr/>
        </p:nvGraphicFramePr>
        <p:xfrm>
          <a:off x="4859011" y="1345227"/>
          <a:ext cx="3922295" cy="2690378"/>
        </p:xfrm>
        <a:graphic>
          <a:graphicData uri="http://schemas.openxmlformats.org/drawingml/2006/table">
            <a:tbl>
              <a:tblPr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3941">
                  <a:extLst>
                    <a:ext uri="{9D8B030D-6E8A-4147-A177-3AD203B41FA5}">
                      <a16:colId xmlns:a16="http://schemas.microsoft.com/office/drawing/2014/main" val="935424687"/>
                    </a:ext>
                  </a:extLst>
                </a:gridCol>
                <a:gridCol w="1748354">
                  <a:extLst>
                    <a:ext uri="{9D8B030D-6E8A-4147-A177-3AD203B41FA5}">
                      <a16:colId xmlns:a16="http://schemas.microsoft.com/office/drawing/2014/main" val="3314869410"/>
                    </a:ext>
                  </a:extLst>
                </a:gridCol>
              </a:tblGrid>
              <a:tr h="56770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Bond Info</a:t>
                      </a:r>
                      <a:endParaRPr lang="en-US" sz="1600" b="1" i="0" u="none" strike="noStrike">
                        <a:solidFill>
                          <a:schemeClr val="bg1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195644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Moody’s/S&amp;P/Fitch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Ba2/BB+/BB+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10262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Issue Size ($M)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$500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58217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OAS (bps)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176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60830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YTW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5.23%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7224"/>
                  </a:ext>
                </a:extLst>
              </a:tr>
              <a:tr h="3507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Convexity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0.05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865659"/>
                  </a:ext>
                </a:extLst>
              </a:tr>
              <a:tr h="3691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u="none" strike="noStrike">
                          <a:effectLst/>
                          <a:latin typeface="Palatino Linotype" panose="02040502050505030304" pitchFamily="18" charset="0"/>
                        </a:rPr>
                        <a:t>Modified Duration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</a:endParaRPr>
                    </a:p>
                  </a:txBody>
                  <a:tcPr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</a:rPr>
                        <a:t>1.99</a:t>
                      </a: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2821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04329B9-2904-F92E-9FA9-032235FF98EC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17182843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25FD-DE99-8250-89A4-369F53F0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35F9B-C0AC-5AA1-D68C-5CE57CCFED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19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2B07B-3B7F-0086-84C2-17CD413A195C}"/>
              </a:ext>
            </a:extLst>
          </p:cNvPr>
          <p:cNvSpPr txBox="1"/>
          <p:nvPr/>
        </p:nvSpPr>
        <p:spPr>
          <a:xfrm>
            <a:off x="1431281" y="2967335"/>
            <a:ext cx="6281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Palatino Linotype" panose="02040502050505030304" pitchFamily="18" charset="0"/>
              </a:rPr>
              <a:t>Appendix</a:t>
            </a:r>
            <a:endParaRPr lang="en-US" sz="3600" b="1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947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4D62-20D4-462E-62BE-5F76E00E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76FB-B31C-579C-308E-0EE06354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436" y="499871"/>
            <a:ext cx="5592618" cy="30777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Regulatory Tailwinds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E7788-06F6-41E5-73B0-29D36734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935" y="1616923"/>
            <a:ext cx="8753750" cy="2677656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lIns="91440" tIns="91440" bIns="9144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Resource Conservation and Recovery Act (RCRA) Subtitle C provides updated guidelines for end-to-end national management for hazardous waste. Program overseen by EPA with implementation and enforcement done at the state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Permit Process: 120+ days to obtain and can last up to 10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Cost: $20k-$500k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EPA 2024 waste regulation agenda increases scrutiny on waste-recycling streams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State-level oversight may raise stricter rules and regulations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F75BE-879F-9BE4-2996-86055E01EF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E89F-05EA-402A-1101-6E6CFEA8AD25}"/>
              </a:ext>
            </a:extLst>
          </p:cNvPr>
          <p:cNvSpPr txBox="1"/>
          <p:nvPr/>
        </p:nvSpPr>
        <p:spPr>
          <a:xfrm>
            <a:off x="4558264" y="6404534"/>
            <a:ext cx="3961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Government Filings (U.S. Environmental Protection Agency)</a:t>
            </a:r>
          </a:p>
        </p:txBody>
      </p:sp>
      <p:pic>
        <p:nvPicPr>
          <p:cNvPr id="7" name="Picture 6" descr="A hand holding a pen&#10;&#10;AI-generated content may be incorrect.">
            <a:extLst>
              <a:ext uri="{FF2B5EF4-FFF2-40B4-BE49-F238E27FC236}">
                <a16:creationId xmlns:a16="http://schemas.microsoft.com/office/drawing/2014/main" id="{295D11EE-0426-4B89-1988-7991403B6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305" y="4491673"/>
            <a:ext cx="6387011" cy="1818026"/>
          </a:xfrm>
          <a:prstGeom prst="rect">
            <a:avLst/>
          </a:prstGeom>
        </p:spPr>
      </p:pic>
      <p:pic>
        <p:nvPicPr>
          <p:cNvPr id="6" name="Picture 5" descr="Clean Harbors - Wikipedia">
            <a:extLst>
              <a:ext uri="{FF2B5EF4-FFF2-40B4-BE49-F238E27FC236}">
                <a16:creationId xmlns:a16="http://schemas.microsoft.com/office/drawing/2014/main" id="{C1E074F3-6B97-E92F-773C-2EDB0682B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2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1469-9904-74D0-08DE-F81209A4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608A-749E-CF67-7EA8-21BE4C24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435" y="484117"/>
            <a:ext cx="5592618" cy="615553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CLH’s Role in Total PFAS Solution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FBE62-3472-F2B2-1CB9-6A3DBDD9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913" y="2146811"/>
            <a:ext cx="3907045" cy="2954655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Clean Harbors provides the most comprehensive suite of PFAS treatment and destruction services, adhering to the EPA’s 2024 Interim Guidance and additional state-level mandates</a:t>
            </a:r>
          </a:p>
          <a:p>
            <a:endParaRPr lang="en-US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With over 100 EPA-permitted facilities, CLH can provide nationwide coverage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6DC66-7F16-EE11-A3BA-BB47FC87A1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21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16DFF-8954-E14D-2E0B-BB2E6825D4EF}"/>
              </a:ext>
            </a:extLst>
          </p:cNvPr>
          <p:cNvSpPr txBox="1"/>
          <p:nvPr/>
        </p:nvSpPr>
        <p:spPr>
          <a:xfrm>
            <a:off x="5822619" y="6414925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8" name="Picture 7" descr="A diagram of a company's process&#10;&#10;AI-generated content may be incorrect.">
            <a:extLst>
              <a:ext uri="{FF2B5EF4-FFF2-40B4-BE49-F238E27FC236}">
                <a16:creationId xmlns:a16="http://schemas.microsoft.com/office/drawing/2014/main" id="{D24154AB-5F98-8CE3-0E6E-50D946C69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734" y="1750997"/>
            <a:ext cx="3907045" cy="3867339"/>
          </a:xfrm>
          <a:prstGeom prst="rect">
            <a:avLst/>
          </a:prstGeom>
        </p:spPr>
      </p:pic>
      <p:pic>
        <p:nvPicPr>
          <p:cNvPr id="6" name="Picture 5" descr="Clean Harbors - Wikipedia">
            <a:extLst>
              <a:ext uri="{FF2B5EF4-FFF2-40B4-BE49-F238E27FC236}">
                <a16:creationId xmlns:a16="http://schemas.microsoft.com/office/drawing/2014/main" id="{81906420-5D88-9691-8469-288D412E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69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72A0-F91C-C7CF-0297-8060511E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701" y="477078"/>
            <a:ext cx="5592618" cy="615553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Secular Pressures towards PFAS </a:t>
            </a:r>
            <a:b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</a:b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destruction growing across the United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A8DD-1019-CB75-C655-FE1B8CC986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22</a:t>
            </a:fld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4F9ADF-0B8C-5929-B932-4B05ED688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971" y="1980463"/>
            <a:ext cx="4605894" cy="3492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3DBA3-DBC4-7399-6E9E-6CEFE4B58988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 descr="Clean Harbors - Wikipedia">
            <a:extLst>
              <a:ext uri="{FF2B5EF4-FFF2-40B4-BE49-F238E27FC236}">
                <a16:creationId xmlns:a16="http://schemas.microsoft.com/office/drawing/2014/main" id="{3F555FC6-EEED-05C9-4203-20C034337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E86437E-73DC-1F36-976C-CA0AED3EDF7B}"/>
              </a:ext>
            </a:extLst>
          </p:cNvPr>
          <p:cNvSpPr txBox="1">
            <a:spLocks/>
          </p:cNvSpPr>
          <p:nvPr/>
        </p:nvSpPr>
        <p:spPr>
          <a:xfrm>
            <a:off x="251111" y="2494140"/>
            <a:ext cx="3907045" cy="24006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In 2025, over 350 bills regarding PFAS have been introduced throughout 39 states</a:t>
            </a:r>
          </a:p>
          <a:p>
            <a:endParaRPr lang="en-US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The EPA has provided guidance on the testing of containment, destruction, and disposal through their Interim Guidance for 2024</a:t>
            </a:r>
          </a:p>
        </p:txBody>
      </p:sp>
    </p:spTree>
    <p:extLst>
      <p:ext uri="{BB962C8B-B14F-4D97-AF65-F5344CB8AC3E}">
        <p14:creationId xmlns:p14="http://schemas.microsoft.com/office/powerpoint/2010/main" val="253861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EBB-E0A6-C78C-8DAC-3C7BCDFD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500E-7F10-CA47-79B2-177151DB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436" y="499871"/>
            <a:ext cx="5592618" cy="307777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Historical M&amp;A Transactions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55A0-69B9-172B-F215-7C4126B3B1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23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3DB89-376A-3A6E-94F4-B985CA10F446}"/>
              </a:ext>
            </a:extLst>
          </p:cNvPr>
          <p:cNvSpPr txBox="1"/>
          <p:nvPr/>
        </p:nvSpPr>
        <p:spPr>
          <a:xfrm>
            <a:off x="5822619" y="6404534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DFFDB7-9354-7EB7-B34F-B46AFF53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1" y="1177792"/>
            <a:ext cx="4088851" cy="136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895E5D-F949-62BE-8ED5-655C0165E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701" y="3317174"/>
            <a:ext cx="2134206" cy="2134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CA5CE6-5E95-7033-A4CB-69CE8506E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172" y="1416337"/>
            <a:ext cx="4704828" cy="792480"/>
          </a:xfrm>
          <a:prstGeom prst="rect">
            <a:avLst/>
          </a:prstGeom>
        </p:spPr>
      </p:pic>
      <p:pic>
        <p:nvPicPr>
          <p:cNvPr id="8" name="Picture 7" descr="Clean Harbors - Wikipedia">
            <a:extLst>
              <a:ext uri="{FF2B5EF4-FFF2-40B4-BE49-F238E27FC236}">
                <a16:creationId xmlns:a16="http://schemas.microsoft.com/office/drawing/2014/main" id="{C6DD6FCD-66E2-270D-A2D9-D4B4C8B51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FF0DC2-158A-0CCC-A55E-6172213054E2}"/>
              </a:ext>
            </a:extLst>
          </p:cNvPr>
          <p:cNvSpPr txBox="1">
            <a:spLocks/>
          </p:cNvSpPr>
          <p:nvPr/>
        </p:nvSpPr>
        <p:spPr>
          <a:xfrm>
            <a:off x="459390" y="2465292"/>
            <a:ext cx="3907045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Size: $400mn all-cash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Multiple: 7.1x EV/EBITDA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Year: 2024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0D176FC-E3DA-8AA2-45B8-E21AD60503DE}"/>
              </a:ext>
            </a:extLst>
          </p:cNvPr>
          <p:cNvSpPr txBox="1">
            <a:spLocks/>
          </p:cNvSpPr>
          <p:nvPr/>
        </p:nvSpPr>
        <p:spPr>
          <a:xfrm>
            <a:off x="4934408" y="2472219"/>
            <a:ext cx="3907045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Size: $1.25bn all-cash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Multiple: 8.3x EV/EBITDA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Year: 2021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8ACA9D5-6D27-8F23-93E3-862646906C1D}"/>
              </a:ext>
            </a:extLst>
          </p:cNvPr>
          <p:cNvSpPr txBox="1">
            <a:spLocks/>
          </p:cNvSpPr>
          <p:nvPr/>
        </p:nvSpPr>
        <p:spPr>
          <a:xfrm>
            <a:off x="2676635" y="5542403"/>
            <a:ext cx="3907045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Size: $69mn all-cash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Palatino Linotype" panose="02040502050505030304" pitchFamily="18" charset="0"/>
              </a:rPr>
              <a:t>Year: 2024</a:t>
            </a:r>
          </a:p>
        </p:txBody>
      </p:sp>
    </p:spTree>
    <p:extLst>
      <p:ext uri="{BB962C8B-B14F-4D97-AF65-F5344CB8AC3E}">
        <p14:creationId xmlns:p14="http://schemas.microsoft.com/office/powerpoint/2010/main" val="2793587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B7E8-F46F-91BF-0283-5C27361D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8F62C5C-B571-1D3A-A759-EA835D3047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8F62C5C-B571-1D3A-A759-EA835D304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AD05F-4FCE-D953-8442-17A06CA56E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24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CF2087D-412F-E8CC-1AEF-181ADE80A1B5}"/>
              </a:ext>
            </a:extLst>
          </p:cNvPr>
          <p:cNvSpPr txBox="1">
            <a:spLocks/>
          </p:cNvSpPr>
          <p:nvPr/>
        </p:nvSpPr>
        <p:spPr>
          <a:xfrm>
            <a:off x="2511136" y="270573"/>
            <a:ext cx="488570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Thesis Point 2: </a:t>
            </a: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t>Clean Harbors Will be Able to Maintain its Strong Credit Profile Even After Considering 2026 and 2027 Acquisitions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543482-FBA3-D4A3-CCF8-A439A26D8C8A}"/>
              </a:ext>
            </a:extLst>
          </p:cNvPr>
          <p:cNvSpPr/>
          <p:nvPr/>
        </p:nvSpPr>
        <p:spPr>
          <a:xfrm>
            <a:off x="228434" y="1196926"/>
            <a:ext cx="8687131" cy="499481"/>
          </a:xfrm>
          <a:prstGeom prst="rect">
            <a:avLst/>
          </a:prstGeom>
          <a:solidFill>
            <a:srgbClr val="C00000"/>
          </a:solidFill>
          <a:ln w="9525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kern="0">
                <a:solidFill>
                  <a:schemeClr val="bg1"/>
                </a:solidFill>
                <a:latin typeface="Palatino Linotype" panose="02040502050505030304" pitchFamily="18" charset="0"/>
              </a:rPr>
              <a:t>Commitment to ~2.0x net leverage limits acquisition credit risk through 2027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8BE75C-9EAF-2C59-5243-7EF8CCAC1545}"/>
              </a:ext>
            </a:extLst>
          </p:cNvPr>
          <p:cNvSpPr txBox="1"/>
          <p:nvPr/>
        </p:nvSpPr>
        <p:spPr>
          <a:xfrm>
            <a:off x="689987" y="1876550"/>
            <a:ext cx="3349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Palatino Linotype" panose="02040502050505030304" pitchFamily="18" charset="0"/>
              </a:rPr>
              <a:t>Case 1: $500mn Acquisitions per Year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053467-81A7-A5D2-2666-24BB6D1BC31D}"/>
              </a:ext>
            </a:extLst>
          </p:cNvPr>
          <p:cNvSpPr txBox="1"/>
          <p:nvPr/>
        </p:nvSpPr>
        <p:spPr>
          <a:xfrm>
            <a:off x="5221301" y="1876550"/>
            <a:ext cx="3199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latin typeface="Palatino Linotype" panose="02040502050505030304" pitchFamily="18" charset="0"/>
              </a:rPr>
              <a:t>Case 2: $1.2bn Acquisitions per Year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B912DC44-367E-15AE-12F2-7CF62E173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276FD-4C23-7C4B-A495-27C92BADFC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630" y="2201697"/>
            <a:ext cx="4236829" cy="399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B54D56-3C1C-C0C6-3E99-94D3A90ABA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101" y="2201697"/>
            <a:ext cx="4236829" cy="3996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9666E-F601-E8BA-3402-FE0B4BF7D732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640050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E5DD-32AC-F449-CBB5-7C3D3FD91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9938A89-7C20-097D-DB1A-F12E0B6801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9938A89-7C20-097D-DB1A-F12E0B680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C1FB3-D8FC-6203-F279-A104684AA5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25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A5E9128A-9B3F-0B00-3013-7EC4444CE11A}"/>
              </a:ext>
            </a:extLst>
          </p:cNvPr>
          <p:cNvSpPr txBox="1">
            <a:spLocks/>
          </p:cNvSpPr>
          <p:nvPr/>
        </p:nvSpPr>
        <p:spPr>
          <a:xfrm>
            <a:off x="2511136" y="486016"/>
            <a:ext cx="488570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Management Team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41E62D06-EF46-1560-A22E-AA98A7EDB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pic>
        <p:nvPicPr>
          <p:cNvPr id="11" name="Picture 10" descr="A person in a suit smiling&#10;&#10;AI-generated content may be incorrect.">
            <a:extLst>
              <a:ext uri="{FF2B5EF4-FFF2-40B4-BE49-F238E27FC236}">
                <a16:creationId xmlns:a16="http://schemas.microsoft.com/office/drawing/2014/main" id="{D49AFD8B-4E7E-88E7-F0A3-E9CA59EE2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34" y="1535476"/>
            <a:ext cx="1460576" cy="1420886"/>
          </a:xfrm>
          <a:prstGeom prst="rect">
            <a:avLst/>
          </a:prstGeom>
        </p:spPr>
      </p:pic>
      <p:pic>
        <p:nvPicPr>
          <p:cNvPr id="13" name="Picture 12" descr="A close-up of a person smiling&#10;&#10;AI-generated content may be incorrect.">
            <a:extLst>
              <a:ext uri="{FF2B5EF4-FFF2-40B4-BE49-F238E27FC236}">
                <a16:creationId xmlns:a16="http://schemas.microsoft.com/office/drawing/2014/main" id="{909D1C14-FAA6-6D16-D907-C6B588E9AF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586" y="1527795"/>
            <a:ext cx="1460576" cy="1413205"/>
          </a:xfrm>
          <a:prstGeom prst="rect">
            <a:avLst/>
          </a:prstGeom>
        </p:spPr>
      </p:pic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5D57B6D-413A-CE3B-5667-1F5AE4BBE4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338" y="1548823"/>
            <a:ext cx="1430676" cy="1422943"/>
          </a:xfrm>
          <a:prstGeom prst="rect">
            <a:avLst/>
          </a:prstGeom>
        </p:spPr>
      </p:pic>
      <p:pic>
        <p:nvPicPr>
          <p:cNvPr id="20" name="Picture 19" descr="A person in a suit smiling&#10;&#10;AI-generated content may be incorrect.">
            <a:extLst>
              <a:ext uri="{FF2B5EF4-FFF2-40B4-BE49-F238E27FC236}">
                <a16:creationId xmlns:a16="http://schemas.microsoft.com/office/drawing/2014/main" id="{7EE9D4F7-DB05-2D8A-E96C-7C91456D33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190" y="1548823"/>
            <a:ext cx="1450686" cy="14025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108AAA4-25A2-8BA2-B127-B4168512220B}"/>
              </a:ext>
            </a:extLst>
          </p:cNvPr>
          <p:cNvSpPr txBox="1"/>
          <p:nvPr/>
        </p:nvSpPr>
        <p:spPr>
          <a:xfrm>
            <a:off x="469834" y="2951420"/>
            <a:ext cx="19708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Palatino Linotype" panose="02040502050505030304" pitchFamily="18" charset="0"/>
              </a:rPr>
              <a:t>Alan S. McKim</a:t>
            </a:r>
          </a:p>
          <a:p>
            <a:endParaRPr lang="en-US" b="1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Founder, Executive Chairman, and Chief Technology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Over 4 decades of experience in the environmental services industry.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AC81AA-233A-7038-4AE3-498386F6D692}"/>
              </a:ext>
            </a:extLst>
          </p:cNvPr>
          <p:cNvSpPr txBox="1"/>
          <p:nvPr/>
        </p:nvSpPr>
        <p:spPr>
          <a:xfrm>
            <a:off x="2657586" y="2941000"/>
            <a:ext cx="187036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Palatino Linotype" panose="02040502050505030304" pitchFamily="18" charset="0"/>
              </a:rPr>
              <a:t>Michael L. Battles</a:t>
            </a:r>
          </a:p>
          <a:p>
            <a:endParaRPr lang="en-US" sz="1600" b="1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Co-Chief Executive Officer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Served as CLH’s Executive Vice President and Chief Financial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Has more than 20 years of financial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Palatino Linotype" panose="0204050205050503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F7695E-7A62-6059-B613-ADB1D74D470F}"/>
              </a:ext>
            </a:extLst>
          </p:cNvPr>
          <p:cNvSpPr txBox="1"/>
          <p:nvPr/>
        </p:nvSpPr>
        <p:spPr>
          <a:xfrm>
            <a:off x="4845338" y="2951420"/>
            <a:ext cx="187036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Palatino Linotype" panose="02040502050505030304" pitchFamily="18" charset="0"/>
              </a:rPr>
              <a:t>Eric W. Gerstenberg</a:t>
            </a:r>
          </a:p>
          <a:p>
            <a:endParaRPr lang="en-US" b="1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Co-Chief Executive Officer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Joined CLH in 1989, holding positions of increasing responsibility such as President of the Environmental, Industrial, &amp; Field Services and Chief Operating Officer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EFF269-1919-0FDC-D7F4-B0DB92AAA58F}"/>
              </a:ext>
            </a:extLst>
          </p:cNvPr>
          <p:cNvSpPr txBox="1"/>
          <p:nvPr/>
        </p:nvSpPr>
        <p:spPr>
          <a:xfrm>
            <a:off x="7003190" y="2951420"/>
            <a:ext cx="187036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Palatino Linotype" panose="02040502050505030304" pitchFamily="18" charset="0"/>
              </a:rPr>
              <a:t>Eric J. Dugas</a:t>
            </a:r>
          </a:p>
          <a:p>
            <a:endParaRPr lang="en-US" b="1">
              <a:latin typeface="Palatino Linotype" panose="02040502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Executive Vice President and Chief Financial Office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Served as CLH’s Senior Vice President, Finance, and Chief Accounting Officer for 5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latin typeface="Palatino Linotype" panose="02040502050505030304" pitchFamily="18" charset="0"/>
              </a:rPr>
              <a:t>13 years of experience with Deloitte &amp; Touche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Palatino Linotype" panose="02040502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7C5D0-7FD2-80B9-90CB-F9BCAD2F456D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</p:spTree>
    <p:extLst>
      <p:ext uri="{BB962C8B-B14F-4D97-AF65-F5344CB8AC3E}">
        <p14:creationId xmlns:p14="http://schemas.microsoft.com/office/powerpoint/2010/main" val="890715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96A8-6BEC-E1BA-C198-5CE10AE8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871D6C-AEB8-3753-B141-42E6765D9C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871D6C-AEB8-3753-B141-42E6765D9C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F3E44-448E-AE47-22EE-30CAF0780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26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9B15CB6-D920-DCEB-3192-5DF28C51F325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Income Statement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59FEF69B-BC31-6B79-B3F1-55083E4E0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689749-CB1B-108E-EBE9-178292F24963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D53EE-C2B5-BF0B-BF5F-17CE0BB2E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9" y="1402008"/>
            <a:ext cx="8473421" cy="40539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2805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6CA5-7ADE-926A-C254-F222FCD6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FF74345-AB33-3819-5806-C1488776F2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FF74345-AB33-3819-5806-C1488776F2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6BE8E-AC84-2A9B-7BF3-563A263902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27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55823052-8F4A-9469-C9A6-4D4128D5D6F5}"/>
              </a:ext>
            </a:extLst>
          </p:cNvPr>
          <p:cNvSpPr txBox="1">
            <a:spLocks/>
          </p:cNvSpPr>
          <p:nvPr/>
        </p:nvSpPr>
        <p:spPr>
          <a:xfrm>
            <a:off x="2511136" y="332128"/>
            <a:ext cx="488570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Income Statement Margins and Growth Rates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7FD374B7-C0C1-E89C-C5FE-2BDF2DB3AD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578544-EE52-09ED-6FF6-B76A9282DE62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A4B332-B58D-D361-46C2-FA7544637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48" y="1291469"/>
            <a:ext cx="8413504" cy="10126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2C06BF-E8AD-3BA0-A9AF-3A7D4AA2E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48" y="2825944"/>
            <a:ext cx="8413504" cy="158649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E2741C-75E0-84D2-6897-23A01CCAB1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48" y="4934258"/>
            <a:ext cx="8413504" cy="115611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3037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E41E-DD9C-C386-B80B-9AD4B240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9E3D877-A768-B73A-268C-06B9A41173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9E3D877-A768-B73A-268C-06B9A41173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CD50-33C7-D0FA-A79D-867958CC26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28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27A17EC4-B457-C749-EFDB-0B46C35AC314}"/>
              </a:ext>
            </a:extLst>
          </p:cNvPr>
          <p:cNvSpPr txBox="1">
            <a:spLocks/>
          </p:cNvSpPr>
          <p:nvPr/>
        </p:nvSpPr>
        <p:spPr>
          <a:xfrm>
            <a:off x="2511136" y="486016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Cash Flow Statement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B5362352-FDA7-551E-6549-C4A9C76AF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E74656-CFCC-7DEE-BBF5-A27607858503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96D851-A604-E206-9223-D5CFF5C15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0486" y="1129782"/>
            <a:ext cx="5864754" cy="53059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27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C64F-8AC9-9EC0-FCF6-D508E514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FC22ABD-A1E6-2184-0287-F46F840A8E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FC22ABD-A1E6-2184-0287-F46F840A8E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051B0-4143-00B2-1DD0-7F265AA11B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29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3587CFA7-4551-9493-9EAB-A09E2654D8A1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Balance Sheet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60F1F09E-46A5-AA94-4A24-CC6680DE8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DE0E9-A0B7-EA38-B40D-B3B5BE0D9632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FA52BA-53D4-33BA-3412-BD50FDD1A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978" y="1179607"/>
            <a:ext cx="6884043" cy="51923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5960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01466-E384-23B1-A9EF-2134AD3E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5CCD98-0E73-3EFE-2541-B86239C187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5CCD98-0E73-3EFE-2541-B86239C18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9440F-2A01-3E26-8484-14AF21EA78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Palatino Linotype" panose="02040502050505030304" pitchFamily="18" charset="0"/>
              </a:rPr>
              <a:t>30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3741F839-D530-C98A-DEF5-28EAD6F25E1E}"/>
              </a:ext>
            </a:extLst>
          </p:cNvPr>
          <p:cNvSpPr txBox="1">
            <a:spLocks/>
          </p:cNvSpPr>
          <p:nvPr/>
        </p:nvSpPr>
        <p:spPr>
          <a:xfrm>
            <a:off x="2511136" y="486017"/>
            <a:ext cx="625186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>
                <a:solidFill>
                  <a:schemeClr val="tx1"/>
                </a:solidFill>
                <a:latin typeface="Palatino Linotype" panose="02040502050505030304" pitchFamily="18" charset="0"/>
              </a:rPr>
              <a:t>Liquidity Model</a:t>
            </a:r>
          </a:p>
        </p:txBody>
      </p:sp>
      <p:pic>
        <p:nvPicPr>
          <p:cNvPr id="3" name="Picture 2" descr="Clean Harbors - Wikipedia">
            <a:extLst>
              <a:ext uri="{FF2B5EF4-FFF2-40B4-BE49-F238E27FC236}">
                <a16:creationId xmlns:a16="http://schemas.microsoft.com/office/drawing/2014/main" id="{BD10D37F-C640-ED37-FAB0-9D993C944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843" y="-3861"/>
            <a:ext cx="1747157" cy="643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D74DBB-9C15-1ABE-8AE0-A71E34BA51CE}"/>
              </a:ext>
            </a:extLst>
          </p:cNvPr>
          <p:cNvSpPr txBox="1"/>
          <p:nvPr/>
        </p:nvSpPr>
        <p:spPr>
          <a:xfrm>
            <a:off x="5822619" y="6435707"/>
            <a:ext cx="2694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>
                <a:latin typeface="Palatino Linotype" panose="02040502050505030304" pitchFamily="18" charset="0"/>
              </a:rPr>
              <a:t>Source(s): Bloomberg, FactSet, Company Filings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A61F1-9A7D-F658-9A90-DBFA42679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11" y="2782463"/>
            <a:ext cx="8371389" cy="12930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3222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11F95CECB8E488B6B42187C37CBDC" ma:contentTypeVersion="2" ma:contentTypeDescription="Create a new document." ma:contentTypeScope="" ma:versionID="8ab8646f47c04aa434f724f0f44ef3d2">
  <xsd:schema xmlns:xsd="http://www.w3.org/2001/XMLSchema" xmlns:xs="http://www.w3.org/2001/XMLSchema" xmlns:p="http://schemas.microsoft.com/office/2006/metadata/properties" xmlns:ns2="79c28417-c0a7-491c-af17-bd49672f3bbd" targetNamespace="http://schemas.microsoft.com/office/2006/metadata/properties" ma:root="true" ma:fieldsID="cd69ca83443b9ca732dac90fd2716f8a" ns2:_="">
    <xsd:import namespace="79c28417-c0a7-491c-af17-bd49672f3b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c28417-c0a7-491c-af17-bd49672f3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DE8602-2B2F-4205-B40E-0AB7CB6D496B}">
  <ds:schemaRefs>
    <ds:schemaRef ds:uri="79c28417-c0a7-491c-af17-bd49672f3b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DE98DF-6968-4D08-B591-6D92FD01AFB6}">
  <ds:schemaRefs>
    <ds:schemaRef ds:uri="79c28417-c0a7-491c-af17-bd49672f3b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31414A-6AE1-421D-9272-E246066596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2239</Words>
  <Application>Microsoft Office PowerPoint</Application>
  <PresentationFormat>On-screen Show (4:3)</PresentationFormat>
  <Paragraphs>424</Paragraphs>
  <Slides>30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Buy CLH 6.375% 2/01/31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Geographic Breakdown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Buy CLH 6.375% 2/01/31</vt:lpstr>
      <vt:lpstr>PowerPoint Presentation</vt:lpstr>
      <vt:lpstr>Regulatory Tailwinds</vt:lpstr>
      <vt:lpstr>CLH’s Role in Total PFAS Solution Management</vt:lpstr>
      <vt:lpstr>Secular Pressures towards PFAS  destruction growing across the United States</vt:lpstr>
      <vt:lpstr>Historical M&amp;A Transactions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Omar Estrada</dc:creator>
  <cp:keywords/>
  <dc:description/>
  <cp:lastModifiedBy>Max McCartney</cp:lastModifiedBy>
  <cp:revision>2</cp:revision>
  <dcterms:created xsi:type="dcterms:W3CDTF">2019-11-08T21:29:51Z</dcterms:created>
  <dcterms:modified xsi:type="dcterms:W3CDTF">2026-03-12T03:37:05Z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2019-11-07T10:00:00Z</vt:filetime>
  </property>
  <property fmtid="{D5CDD505-2E9C-101B-9397-08002B2CF9AE}" pid="3" name="Creator">
    <vt:lpwstr>Acrobat PDFMaker 19 for PowerPoint</vt:lpwstr>
  </property>
  <property fmtid="{D5CDD505-2E9C-101B-9397-08002B2CF9AE}" pid="4" name="LastSaved">
    <vt:filetime>2019-11-07T10:00:00Z</vt:filetime>
  </property>
  <property fmtid="{D5CDD505-2E9C-101B-9397-08002B2CF9AE}" pid="5" name="ContentTypeId">
    <vt:lpwstr>0x01010045211F95CECB8E488B6B42187C37CBDC</vt:lpwstr>
  </property>
</Properties>
</file>