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73" r:id="rId10"/>
    <p:sldId id="274" r:id="rId11"/>
    <p:sldId id="265" r:id="rId12"/>
    <p:sldId id="266" r:id="rId13"/>
    <p:sldId id="267" r:id="rId14"/>
    <p:sldId id="268" r:id="rId15"/>
    <p:sldId id="269" r:id="rId16"/>
    <p:sldId id="271" r:id="rId17"/>
    <p:sldId id="270" r:id="rId18"/>
    <p:sldId id="285" r:id="rId19"/>
    <p:sldId id="263" r:id="rId20"/>
    <p:sldId id="281" r:id="rId21"/>
    <p:sldId id="282" r:id="rId22"/>
    <p:sldId id="286" r:id="rId23"/>
    <p:sldId id="283" r:id="rId24"/>
    <p:sldId id="287" r:id="rId25"/>
    <p:sldId id="284" r:id="rId26"/>
    <p:sldId id="275" r:id="rId27"/>
    <p:sldId id="276" r:id="rId28"/>
    <p:sldId id="278" r:id="rId29"/>
    <p:sldId id="277" r:id="rId30"/>
    <p:sldId id="279" r:id="rId31"/>
    <p:sldId id="280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63C704E-AB57-702C-9DD9-05D5BB07ADC5}" name="Betsi Hill" initials="BH" userId="S::eahill3@wisc.edu::b3beeda0-e4bd-4404-8d4a-b26636e6be39" providerId="AD"/>
  <p188:author id="{6E5B9FEC-33ED-5388-C92D-172FF1821B57}" name="jkmccartney@tds.net" initials="jk" userId="S::urn:spo:guest#jkmccartney@tds.net::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178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8/10/relationships/authors" Target="authors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XWELL George MCCARTNEY" userId="ee991494-fecf-4237-bc69-47c786cd4377" providerId="ADAL" clId="{F124C019-20A3-4D34-AC2D-2B10E3C744B3}"/>
    <pc:docChg chg="custSel addSld modSld sldOrd">
      <pc:chgData name="MAXWELL George MCCARTNEY" userId="ee991494-fecf-4237-bc69-47c786cd4377" providerId="ADAL" clId="{F124C019-20A3-4D34-AC2D-2B10E3C744B3}" dt="2026-04-01T18:11:20.051" v="279" actId="1076"/>
      <pc:docMkLst>
        <pc:docMk/>
      </pc:docMkLst>
      <pc:sldChg chg="modSp mod">
        <pc:chgData name="MAXWELL George MCCARTNEY" userId="ee991494-fecf-4237-bc69-47c786cd4377" providerId="ADAL" clId="{F124C019-20A3-4D34-AC2D-2B10E3C744B3}" dt="2026-03-19T01:55:10.215" v="135" actId="20577"/>
        <pc:sldMkLst>
          <pc:docMk/>
          <pc:sldMk cId="516042427" sldId="257"/>
        </pc:sldMkLst>
        <pc:spChg chg="mod">
          <ac:chgData name="MAXWELL George MCCARTNEY" userId="ee991494-fecf-4237-bc69-47c786cd4377" providerId="ADAL" clId="{F124C019-20A3-4D34-AC2D-2B10E3C744B3}" dt="2026-03-19T01:55:10.215" v="135" actId="20577"/>
          <ac:spMkLst>
            <pc:docMk/>
            <pc:sldMk cId="516042427" sldId="257"/>
            <ac:spMk id="9" creationId="{6B01C09A-EE7D-0B5D-237C-A6EE1A5F293C}"/>
          </ac:spMkLst>
        </pc:spChg>
        <pc:graphicFrameChg chg="modGraphic">
          <ac:chgData name="MAXWELL George MCCARTNEY" userId="ee991494-fecf-4237-bc69-47c786cd4377" providerId="ADAL" clId="{F124C019-20A3-4D34-AC2D-2B10E3C744B3}" dt="2026-03-19T01:42:47.911" v="55" actId="20577"/>
          <ac:graphicFrameMkLst>
            <pc:docMk/>
            <pc:sldMk cId="516042427" sldId="257"/>
            <ac:graphicFrameMk id="4" creationId="{AF8B9592-1F55-EECB-7907-59160F44E2DB}"/>
          </ac:graphicFrameMkLst>
        </pc:graphicFrameChg>
        <pc:graphicFrameChg chg="modGraphic">
          <ac:chgData name="MAXWELL George MCCARTNEY" userId="ee991494-fecf-4237-bc69-47c786cd4377" providerId="ADAL" clId="{F124C019-20A3-4D34-AC2D-2B10E3C744B3}" dt="2026-03-19T01:54:13.207" v="119" actId="20577"/>
          <ac:graphicFrameMkLst>
            <pc:docMk/>
            <pc:sldMk cId="516042427" sldId="257"/>
            <ac:graphicFrameMk id="7" creationId="{D8275FAB-FEDD-1110-8219-704ADEBDF0F8}"/>
          </ac:graphicFrameMkLst>
        </pc:graphicFrameChg>
      </pc:sldChg>
      <pc:sldChg chg="addSp delSp modSp mod">
        <pc:chgData name="MAXWELL George MCCARTNEY" userId="ee991494-fecf-4237-bc69-47c786cd4377" providerId="ADAL" clId="{F124C019-20A3-4D34-AC2D-2B10E3C744B3}" dt="2026-03-19T02:02:42.097" v="178" actId="1582"/>
        <pc:sldMkLst>
          <pc:docMk/>
          <pc:sldMk cId="3833686359" sldId="263"/>
        </pc:sldMkLst>
        <pc:picChg chg="add mod">
          <ac:chgData name="MAXWELL George MCCARTNEY" userId="ee991494-fecf-4237-bc69-47c786cd4377" providerId="ADAL" clId="{F124C019-20A3-4D34-AC2D-2B10E3C744B3}" dt="2026-03-19T02:02:42.097" v="178" actId="1582"/>
          <ac:picMkLst>
            <pc:docMk/>
            <pc:sldMk cId="3833686359" sldId="263"/>
            <ac:picMk id="5" creationId="{B7957DCA-E63B-691E-6D27-0E7A239FE34E}"/>
          </ac:picMkLst>
        </pc:picChg>
        <pc:picChg chg="del">
          <ac:chgData name="MAXWELL George MCCARTNEY" userId="ee991494-fecf-4237-bc69-47c786cd4377" providerId="ADAL" clId="{F124C019-20A3-4D34-AC2D-2B10E3C744B3}" dt="2026-03-19T02:02:28.297" v="173" actId="478"/>
          <ac:picMkLst>
            <pc:docMk/>
            <pc:sldMk cId="3833686359" sldId="263"/>
            <ac:picMk id="6" creationId="{306EDEBF-281A-494D-B629-D9AF4BFEB13A}"/>
          </ac:picMkLst>
        </pc:picChg>
      </pc:sldChg>
      <pc:sldChg chg="modSp mod">
        <pc:chgData name="MAXWELL George MCCARTNEY" userId="ee991494-fecf-4237-bc69-47c786cd4377" providerId="ADAL" clId="{F124C019-20A3-4D34-AC2D-2B10E3C744B3}" dt="2026-03-19T02:07:06.700" v="219" actId="20577"/>
        <pc:sldMkLst>
          <pc:docMk/>
          <pc:sldMk cId="2600896471" sldId="268"/>
        </pc:sldMkLst>
        <pc:graphicFrameChg chg="modGraphic">
          <ac:chgData name="MAXWELL George MCCARTNEY" userId="ee991494-fecf-4237-bc69-47c786cd4377" providerId="ADAL" clId="{F124C019-20A3-4D34-AC2D-2B10E3C744B3}" dt="2026-03-19T02:07:06.700" v="219" actId="20577"/>
          <ac:graphicFrameMkLst>
            <pc:docMk/>
            <pc:sldMk cId="2600896471" sldId="268"/>
            <ac:graphicFrameMk id="3" creationId="{12135691-373F-B6EC-E1CF-D1FCBEF4CAB1}"/>
          </ac:graphicFrameMkLst>
        </pc:graphicFrameChg>
      </pc:sldChg>
      <pc:sldChg chg="addSp delSp modSp mod">
        <pc:chgData name="MAXWELL George MCCARTNEY" userId="ee991494-fecf-4237-bc69-47c786cd4377" providerId="ADAL" clId="{F124C019-20A3-4D34-AC2D-2B10E3C744B3}" dt="2026-03-19T01:52:44.451" v="95" actId="1582"/>
        <pc:sldMkLst>
          <pc:docMk/>
          <pc:sldMk cId="3068581908" sldId="269"/>
        </pc:sldMkLst>
        <pc:graphicFrameChg chg="modGraphic">
          <ac:chgData name="MAXWELL George MCCARTNEY" userId="ee991494-fecf-4237-bc69-47c786cd4377" providerId="ADAL" clId="{F124C019-20A3-4D34-AC2D-2B10E3C744B3}" dt="2026-03-19T01:51:02.290" v="89" actId="20577"/>
          <ac:graphicFrameMkLst>
            <pc:docMk/>
            <pc:sldMk cId="3068581908" sldId="269"/>
            <ac:graphicFrameMk id="3" creationId="{6E27EE36-C338-AC3C-4FF2-34A783657927}"/>
          </ac:graphicFrameMkLst>
        </pc:graphicFrameChg>
        <pc:picChg chg="add mod">
          <ac:chgData name="MAXWELL George MCCARTNEY" userId="ee991494-fecf-4237-bc69-47c786cd4377" providerId="ADAL" clId="{F124C019-20A3-4D34-AC2D-2B10E3C744B3}" dt="2026-03-19T01:52:44.451" v="95" actId="1582"/>
          <ac:picMkLst>
            <pc:docMk/>
            <pc:sldMk cId="3068581908" sldId="269"/>
            <ac:picMk id="6" creationId="{52DD5363-24BA-7728-6C91-619A00A75DD9}"/>
          </ac:picMkLst>
        </pc:picChg>
        <pc:picChg chg="del">
          <ac:chgData name="MAXWELL George MCCARTNEY" userId="ee991494-fecf-4237-bc69-47c786cd4377" providerId="ADAL" clId="{F124C019-20A3-4D34-AC2D-2B10E3C744B3}" dt="2026-03-19T01:52:30.509" v="90" actId="478"/>
          <ac:picMkLst>
            <pc:docMk/>
            <pc:sldMk cId="3068581908" sldId="269"/>
            <ac:picMk id="7" creationId="{8E712D3C-5B8E-7413-4959-6EC9A33B77DE}"/>
          </ac:picMkLst>
        </pc:picChg>
      </pc:sldChg>
      <pc:sldChg chg="modSp mod">
        <pc:chgData name="MAXWELL George MCCARTNEY" userId="ee991494-fecf-4237-bc69-47c786cd4377" providerId="ADAL" clId="{F124C019-20A3-4D34-AC2D-2B10E3C744B3}" dt="2026-03-19T01:55:22.897" v="149" actId="20577"/>
        <pc:sldMkLst>
          <pc:docMk/>
          <pc:sldMk cId="987409627" sldId="271"/>
        </pc:sldMkLst>
        <pc:spChg chg="mod">
          <ac:chgData name="MAXWELL George MCCARTNEY" userId="ee991494-fecf-4237-bc69-47c786cd4377" providerId="ADAL" clId="{F124C019-20A3-4D34-AC2D-2B10E3C744B3}" dt="2026-03-19T01:55:22.897" v="149" actId="20577"/>
          <ac:spMkLst>
            <pc:docMk/>
            <pc:sldMk cId="987409627" sldId="271"/>
            <ac:spMk id="9" creationId="{6B01C09A-EE7D-0B5D-237C-A6EE1A5F293C}"/>
          </ac:spMkLst>
        </pc:spChg>
        <pc:graphicFrameChg chg="modGraphic">
          <ac:chgData name="MAXWELL George MCCARTNEY" userId="ee991494-fecf-4237-bc69-47c786cd4377" providerId="ADAL" clId="{F124C019-20A3-4D34-AC2D-2B10E3C744B3}" dt="2026-03-19T01:43:21.557" v="71" actId="20577"/>
          <ac:graphicFrameMkLst>
            <pc:docMk/>
            <pc:sldMk cId="987409627" sldId="271"/>
            <ac:graphicFrameMk id="4" creationId="{AF8B9592-1F55-EECB-7907-59160F44E2DB}"/>
          </ac:graphicFrameMkLst>
        </pc:graphicFrameChg>
        <pc:graphicFrameChg chg="modGraphic">
          <ac:chgData name="MAXWELL George MCCARTNEY" userId="ee991494-fecf-4237-bc69-47c786cd4377" providerId="ADAL" clId="{F124C019-20A3-4D34-AC2D-2B10E3C744B3}" dt="2026-03-19T01:53:49.992" v="107" actId="20577"/>
          <ac:graphicFrameMkLst>
            <pc:docMk/>
            <pc:sldMk cId="987409627" sldId="271"/>
            <ac:graphicFrameMk id="7" creationId="{D8275FAB-FEDD-1110-8219-704ADEBDF0F8}"/>
          </ac:graphicFrameMkLst>
        </pc:graphicFrameChg>
      </pc:sldChg>
      <pc:sldChg chg="modSp mod">
        <pc:chgData name="MAXWELL George MCCARTNEY" userId="ee991494-fecf-4237-bc69-47c786cd4377" providerId="ADAL" clId="{F124C019-20A3-4D34-AC2D-2B10E3C744B3}" dt="2026-03-19T01:55:42.465" v="165" actId="20577"/>
        <pc:sldMkLst>
          <pc:docMk/>
          <pc:sldMk cId="2401290222" sldId="274"/>
        </pc:sldMkLst>
        <pc:spChg chg="mod">
          <ac:chgData name="MAXWELL George MCCARTNEY" userId="ee991494-fecf-4237-bc69-47c786cd4377" providerId="ADAL" clId="{F124C019-20A3-4D34-AC2D-2B10E3C744B3}" dt="2026-03-19T01:55:42.465" v="165" actId="20577"/>
          <ac:spMkLst>
            <pc:docMk/>
            <pc:sldMk cId="2401290222" sldId="274"/>
            <ac:spMk id="17" creationId="{1C2AEBB4-AD06-4D96-41B3-E34E878AFA95}"/>
          </ac:spMkLst>
        </pc:spChg>
      </pc:sldChg>
      <pc:sldChg chg="addSp delSp modSp mod">
        <pc:chgData name="MAXWELL George MCCARTNEY" userId="ee991494-fecf-4237-bc69-47c786cd4377" providerId="ADAL" clId="{F124C019-20A3-4D34-AC2D-2B10E3C744B3}" dt="2026-03-19T02:05:22.369" v="184" actId="1582"/>
        <pc:sldMkLst>
          <pc:docMk/>
          <pc:sldMk cId="3079613657" sldId="281"/>
        </pc:sldMkLst>
        <pc:picChg chg="del">
          <ac:chgData name="MAXWELL George MCCARTNEY" userId="ee991494-fecf-4237-bc69-47c786cd4377" providerId="ADAL" clId="{F124C019-20A3-4D34-AC2D-2B10E3C744B3}" dt="2026-03-19T02:05:08.108" v="179" actId="478"/>
          <ac:picMkLst>
            <pc:docMk/>
            <pc:sldMk cId="3079613657" sldId="281"/>
            <ac:picMk id="2" creationId="{E6ED88D7-9848-8947-55C8-A3E954AC9028}"/>
          </ac:picMkLst>
        </pc:picChg>
        <pc:picChg chg="add mod">
          <ac:chgData name="MAXWELL George MCCARTNEY" userId="ee991494-fecf-4237-bc69-47c786cd4377" providerId="ADAL" clId="{F124C019-20A3-4D34-AC2D-2B10E3C744B3}" dt="2026-03-19T02:05:22.369" v="184" actId="1582"/>
          <ac:picMkLst>
            <pc:docMk/>
            <pc:sldMk cId="3079613657" sldId="281"/>
            <ac:picMk id="7" creationId="{CDB448C7-1E42-F008-F207-E1D90149C029}"/>
          </ac:picMkLst>
        </pc:picChg>
      </pc:sldChg>
      <pc:sldChg chg="addSp delSp modSp mod">
        <pc:chgData name="MAXWELL George MCCARTNEY" userId="ee991494-fecf-4237-bc69-47c786cd4377" providerId="ADAL" clId="{F124C019-20A3-4D34-AC2D-2B10E3C744B3}" dt="2026-04-01T18:03:16.732" v="223" actId="20577"/>
        <pc:sldMkLst>
          <pc:docMk/>
          <pc:sldMk cId="2520366302" sldId="282"/>
        </pc:sldMkLst>
        <pc:spChg chg="mod">
          <ac:chgData name="MAXWELL George MCCARTNEY" userId="ee991494-fecf-4237-bc69-47c786cd4377" providerId="ADAL" clId="{F124C019-20A3-4D34-AC2D-2B10E3C744B3}" dt="2026-04-01T18:03:16.732" v="223" actId="20577"/>
          <ac:spMkLst>
            <pc:docMk/>
            <pc:sldMk cId="2520366302" sldId="282"/>
            <ac:spMk id="2" creationId="{0AF6E032-AF63-B5F7-F8A5-C85FA583CD91}"/>
          </ac:spMkLst>
        </pc:spChg>
        <pc:picChg chg="del">
          <ac:chgData name="MAXWELL George MCCARTNEY" userId="ee991494-fecf-4237-bc69-47c786cd4377" providerId="ADAL" clId="{F124C019-20A3-4D34-AC2D-2B10E3C744B3}" dt="2026-03-19T02:05:48.173" v="185" actId="478"/>
          <ac:picMkLst>
            <pc:docMk/>
            <pc:sldMk cId="2520366302" sldId="282"/>
            <ac:picMk id="5" creationId="{32BC2678-5A59-2451-1E45-7FF73968EC5D}"/>
          </ac:picMkLst>
        </pc:picChg>
        <pc:picChg chg="add mod">
          <ac:chgData name="MAXWELL George MCCARTNEY" userId="ee991494-fecf-4237-bc69-47c786cd4377" providerId="ADAL" clId="{F124C019-20A3-4D34-AC2D-2B10E3C744B3}" dt="2026-03-19T02:05:55.855" v="189" actId="14861"/>
          <ac:picMkLst>
            <pc:docMk/>
            <pc:sldMk cId="2520366302" sldId="282"/>
            <ac:picMk id="7" creationId="{BDF6FC41-6736-61A8-19B5-F7A675C094BC}"/>
          </ac:picMkLst>
        </pc:picChg>
      </pc:sldChg>
      <pc:sldChg chg="addSp delSp modSp mod">
        <pc:chgData name="MAXWELL George MCCARTNEY" userId="ee991494-fecf-4237-bc69-47c786cd4377" providerId="ADAL" clId="{F124C019-20A3-4D34-AC2D-2B10E3C744B3}" dt="2026-03-19T01:59:50.726" v="172" actId="1076"/>
        <pc:sldMkLst>
          <pc:docMk/>
          <pc:sldMk cId="725651910" sldId="285"/>
        </pc:sldMkLst>
        <pc:picChg chg="del">
          <ac:chgData name="MAXWELL George MCCARTNEY" userId="ee991494-fecf-4237-bc69-47c786cd4377" providerId="ADAL" clId="{F124C019-20A3-4D34-AC2D-2B10E3C744B3}" dt="2026-03-19T01:59:34.762" v="166" actId="478"/>
          <ac:picMkLst>
            <pc:docMk/>
            <pc:sldMk cId="725651910" sldId="285"/>
            <ac:picMk id="4" creationId="{32F3A345-E922-4BDC-0708-1A6BCD56E7DC}"/>
          </ac:picMkLst>
        </pc:picChg>
        <pc:picChg chg="add mod">
          <ac:chgData name="MAXWELL George MCCARTNEY" userId="ee991494-fecf-4237-bc69-47c786cd4377" providerId="ADAL" clId="{F124C019-20A3-4D34-AC2D-2B10E3C744B3}" dt="2026-03-19T01:59:50.726" v="172" actId="1076"/>
          <ac:picMkLst>
            <pc:docMk/>
            <pc:sldMk cId="725651910" sldId="285"/>
            <ac:picMk id="7" creationId="{C776DABC-A2C1-C295-ED7B-953C4134FCA7}"/>
          </ac:picMkLst>
        </pc:picChg>
      </pc:sldChg>
      <pc:sldChg chg="ord">
        <pc:chgData name="MAXWELL George MCCARTNEY" userId="ee991494-fecf-4237-bc69-47c786cd4377" providerId="ADAL" clId="{F124C019-20A3-4D34-AC2D-2B10E3C744B3}" dt="2026-03-19T02:06:08.590" v="191"/>
        <pc:sldMkLst>
          <pc:docMk/>
          <pc:sldMk cId="3611595586" sldId="286"/>
        </pc:sldMkLst>
      </pc:sldChg>
      <pc:sldChg chg="addSp delSp modSp add mod ord">
        <pc:chgData name="MAXWELL George MCCARTNEY" userId="ee991494-fecf-4237-bc69-47c786cd4377" providerId="ADAL" clId="{F124C019-20A3-4D34-AC2D-2B10E3C744B3}" dt="2026-04-01T18:11:20.051" v="279" actId="1076"/>
        <pc:sldMkLst>
          <pc:docMk/>
          <pc:sldMk cId="646491320" sldId="287"/>
        </pc:sldMkLst>
        <pc:spChg chg="mod">
          <ac:chgData name="MAXWELL George MCCARTNEY" userId="ee991494-fecf-4237-bc69-47c786cd4377" providerId="ADAL" clId="{F124C019-20A3-4D34-AC2D-2B10E3C744B3}" dt="2026-04-01T18:11:20.051" v="279" actId="1076"/>
          <ac:spMkLst>
            <pc:docMk/>
            <pc:sldMk cId="646491320" sldId="287"/>
            <ac:spMk id="2" creationId="{B94CE3E3-D2B8-3431-FFA4-BB26A326132F}"/>
          </ac:spMkLst>
        </pc:spChg>
        <pc:picChg chg="del">
          <ac:chgData name="MAXWELL George MCCARTNEY" userId="ee991494-fecf-4237-bc69-47c786cd4377" providerId="ADAL" clId="{F124C019-20A3-4D34-AC2D-2B10E3C744B3}" dt="2026-04-01T18:08:54.196" v="227" actId="478"/>
          <ac:picMkLst>
            <pc:docMk/>
            <pc:sldMk cId="646491320" sldId="287"/>
            <ac:picMk id="4" creationId="{289ED1C5-1547-EA21-E49A-C8F4C61D7B7A}"/>
          </ac:picMkLst>
        </pc:picChg>
        <pc:picChg chg="del">
          <ac:chgData name="MAXWELL George MCCARTNEY" userId="ee991494-fecf-4237-bc69-47c786cd4377" providerId="ADAL" clId="{F124C019-20A3-4D34-AC2D-2B10E3C744B3}" dt="2026-04-01T18:08:55.311" v="228" actId="478"/>
          <ac:picMkLst>
            <pc:docMk/>
            <pc:sldMk cId="646491320" sldId="287"/>
            <ac:picMk id="6" creationId="{63A42860-D359-2EB6-ADCD-E9D33A5B1017}"/>
          </ac:picMkLst>
        </pc:picChg>
        <pc:picChg chg="add mod">
          <ac:chgData name="MAXWELL George MCCARTNEY" userId="ee991494-fecf-4237-bc69-47c786cd4377" providerId="ADAL" clId="{F124C019-20A3-4D34-AC2D-2B10E3C744B3}" dt="2026-04-01T18:09:31.033" v="278" actId="14861"/>
          <ac:picMkLst>
            <pc:docMk/>
            <pc:sldMk cId="646491320" sldId="287"/>
            <ac:picMk id="8" creationId="{C8988D31-BCB6-936A-FD3D-1361A93B6388}"/>
          </ac:picMkLst>
        </pc:picChg>
      </pc:sldChg>
    </pc:docChg>
  </pc:docChgLst>
  <pc:docChgLst>
    <pc:chgData name="Betsi Hill" userId="S::eahill3@wisc.edu::b3beeda0-e4bd-4404-8d4a-b26636e6be39" providerId="AD" clId="Web-{B43CADE9-BA9E-0C46-DD97-1FB452CCB07B}"/>
    <pc:docChg chg="mod">
      <pc:chgData name="Betsi Hill" userId="S::eahill3@wisc.edu::b3beeda0-e4bd-4404-8d4a-b26636e6be39" providerId="AD" clId="Web-{B43CADE9-BA9E-0C46-DD97-1FB452CCB07B}" dt="2026-03-18T17:25:58.525" v="0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445F14-A750-4A3B-B097-009757E93685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5679D0-F738-4189-AEE3-12DEAD752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18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>
                <a:latin typeface="Palatino Linotype" panose="02040502050505030304" pitchFamily="18" charset="0"/>
              </a:rPr>
              <a:t>. 70% of Tier 1 launches have met or beat expectations for revenues earned and market share gained. Contigo, Yankee, Chesapeake all relaunching this year. 2026E EBITDA boosted by expected restructuring expense added back. Increasing A&amp;P for the next few years.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5679D0-F738-4189-AEE3-12DEAD7529A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6392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Better liquidity than competitors. Shorter mod. Duration and comparable </a:t>
            </a:r>
            <a:r>
              <a:rPr lang="en-US" err="1"/>
              <a:t>ytw</a:t>
            </a:r>
            <a:r>
              <a:rPr lang="en-US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5679D0-F738-4189-AEE3-12DEAD7529A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636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1731E-1AA5-4997-91B0-110D949CFF1D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6A2CB-1AF5-41D7-B1FE-597F5196B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012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1731E-1AA5-4997-91B0-110D949CFF1D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6A2CB-1AF5-41D7-B1FE-597F5196B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453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1731E-1AA5-4997-91B0-110D949CFF1D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6A2CB-1AF5-41D7-B1FE-597F5196B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821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1731E-1AA5-4997-91B0-110D949CFF1D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6A2CB-1AF5-41D7-B1FE-597F5196B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068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1731E-1AA5-4997-91B0-110D949CFF1D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6A2CB-1AF5-41D7-B1FE-597F5196B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351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1731E-1AA5-4997-91B0-110D949CFF1D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6A2CB-1AF5-41D7-B1FE-597F5196B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699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1731E-1AA5-4997-91B0-110D949CFF1D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6A2CB-1AF5-41D7-B1FE-597F5196B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33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1731E-1AA5-4997-91B0-110D949CFF1D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6A2CB-1AF5-41D7-B1FE-597F5196B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546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1731E-1AA5-4997-91B0-110D949CFF1D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6A2CB-1AF5-41D7-B1FE-597F5196B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9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1731E-1AA5-4997-91B0-110D949CFF1D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6A2CB-1AF5-41D7-B1FE-597F5196B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292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1731E-1AA5-4997-91B0-110D949CFF1D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6A2CB-1AF5-41D7-B1FE-597F5196B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206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E1731E-1AA5-4997-91B0-110D949CFF1D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26A2CB-1AF5-41D7-B1FE-597F5196B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416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em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2BDC7-929F-B651-28A7-6903AEE8DB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08528" y="1360331"/>
            <a:ext cx="5299364" cy="2068669"/>
          </a:xfrm>
        </p:spPr>
        <p:txBody>
          <a:bodyPr>
            <a:normAutofit/>
          </a:bodyPr>
          <a:lstStyle/>
          <a:p>
            <a:r>
              <a:rPr lang="en-US" sz="4000">
                <a:latin typeface="Palatino Linotype" panose="02040502050505030304" pitchFamily="18" charset="0"/>
              </a:rPr>
              <a:t>Newell Brands</a:t>
            </a:r>
            <a:br>
              <a:rPr lang="en-US" sz="4000">
                <a:latin typeface="Palatino Linotype" panose="02040502050505030304" pitchFamily="18" charset="0"/>
              </a:rPr>
            </a:br>
            <a:r>
              <a:rPr lang="en-US" sz="4000">
                <a:latin typeface="Palatino Linotype" panose="02040502050505030304" pitchFamily="18" charset="0"/>
              </a:rPr>
              <a:t>(NWL)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354522-A40F-6818-8B5B-E8A4047772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381" y="3793379"/>
            <a:ext cx="3821545" cy="1655762"/>
          </a:xfrm>
        </p:spPr>
        <p:txBody>
          <a:bodyPr/>
          <a:lstStyle/>
          <a:p>
            <a:r>
              <a:rPr lang="en-US">
                <a:latin typeface="Palatino Linotype" panose="02040502050505030304" pitchFamily="18" charset="0"/>
              </a:rPr>
              <a:t>Max McCartney</a:t>
            </a:r>
          </a:p>
        </p:txBody>
      </p:sp>
      <p:pic>
        <p:nvPicPr>
          <p:cNvPr id="2050" name="Picture 2" descr="Newell Brands charts new path for outdoor segment in the US | News ...">
            <a:extLst>
              <a:ext uri="{FF2B5EF4-FFF2-40B4-BE49-F238E27FC236}">
                <a16:creationId xmlns:a16="http://schemas.microsoft.com/office/drawing/2014/main" id="{8D21A3BA-B0A8-406D-23AD-7CA58E5A9C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360331"/>
            <a:ext cx="4085342" cy="2433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0887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F8B9592-1F55-EECB-7907-59160F44E2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8691798"/>
              </p:ext>
            </p:extLst>
          </p:nvPr>
        </p:nvGraphicFramePr>
        <p:xfrm>
          <a:off x="4967067" y="926306"/>
          <a:ext cx="3922295" cy="2788941"/>
        </p:xfrm>
        <a:graphic>
          <a:graphicData uri="http://schemas.openxmlformats.org/drawingml/2006/table">
            <a:tbl>
              <a:tblPr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173941">
                  <a:extLst>
                    <a:ext uri="{9D8B030D-6E8A-4147-A177-3AD203B41FA5}">
                      <a16:colId xmlns:a16="http://schemas.microsoft.com/office/drawing/2014/main" val="935424687"/>
                    </a:ext>
                  </a:extLst>
                </a:gridCol>
                <a:gridCol w="1748354">
                  <a:extLst>
                    <a:ext uri="{9D8B030D-6E8A-4147-A177-3AD203B41FA5}">
                      <a16:colId xmlns:a16="http://schemas.microsoft.com/office/drawing/2014/main" val="3314869410"/>
                    </a:ext>
                  </a:extLst>
                </a:gridCol>
              </a:tblGrid>
              <a:tr h="567708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>
                          <a:solidFill>
                            <a:schemeClr val="bg1"/>
                          </a:solidFill>
                          <a:effectLst/>
                          <a:latin typeface="Palatino Linotype" panose="02040502050505030304" pitchFamily="18" charset="0"/>
                        </a:rPr>
                        <a:t>Bond Info</a:t>
                      </a:r>
                      <a:endParaRPr lang="en-US" sz="1800" b="1" i="0" u="none" strike="noStrike">
                        <a:solidFill>
                          <a:schemeClr val="bg1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2195644"/>
                  </a:ext>
                </a:extLst>
              </a:tr>
              <a:tr h="44926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 dirty="0">
                          <a:effectLst/>
                          <a:latin typeface="Palatino Linotype" panose="02040502050505030304" pitchFamily="18" charset="0"/>
                        </a:rPr>
                        <a:t>Moody’s/S&amp;P/Fitch</a:t>
                      </a:r>
                    </a:p>
                  </a:txBody>
                  <a:tcPr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 dirty="0">
                          <a:effectLst/>
                          <a:latin typeface="Palatino Linotype" panose="02040502050505030304" pitchFamily="18" charset="0"/>
                        </a:rPr>
                        <a:t>B2 (N)/ B+ (S)/NR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710262"/>
                  </a:ext>
                </a:extLst>
              </a:tr>
              <a:tr h="35070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 dirty="0">
                          <a:effectLst/>
                          <a:latin typeface="Palatino Linotype" panose="02040502050505030304" pitchFamily="18" charset="0"/>
                        </a:rPr>
                        <a:t>Issue Size ($M)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Palatino Linotype" panose="02040502050505030304" pitchFamily="18" charset="0"/>
                        </a:rPr>
                        <a:t>$750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0" marR="0" marT="0" marB="0"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1858217"/>
                  </a:ext>
                </a:extLst>
              </a:tr>
              <a:tr h="35070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Palatino Linotype" panose="02040502050505030304" pitchFamily="18" charset="0"/>
                        </a:rPr>
                        <a:t>OAS (bps)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317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4760830"/>
                  </a:ext>
                </a:extLst>
              </a:tr>
              <a:tr h="35070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Palatino Linotype" panose="02040502050505030304" pitchFamily="18" charset="0"/>
                        </a:rPr>
                        <a:t>YTW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 dirty="0">
                          <a:effectLst/>
                          <a:latin typeface="Palatino Linotype" panose="02040502050505030304" pitchFamily="18" charset="0"/>
                        </a:rPr>
                        <a:t>7.05%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0" marR="0" marT="0" marB="0"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27224"/>
                  </a:ext>
                </a:extLst>
              </a:tr>
              <a:tr h="35070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Palatino Linotype" panose="02040502050505030304" pitchFamily="18" charset="0"/>
                        </a:rPr>
                        <a:t>Convexity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Palatino Linotype" panose="02040502050505030304" pitchFamily="18" charset="0"/>
                        </a:rPr>
                        <a:t>0.15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0" marR="0" marT="0" marB="0"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3865659"/>
                  </a:ext>
                </a:extLst>
              </a:tr>
              <a:tr h="36916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Palatino Linotype" panose="02040502050505030304" pitchFamily="18" charset="0"/>
                        </a:rPr>
                        <a:t>Modified Duration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3.51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28216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257E664-5397-9AD8-EDF5-A62C6749777C}"/>
              </a:ext>
            </a:extLst>
          </p:cNvPr>
          <p:cNvSpPr txBox="1"/>
          <p:nvPr/>
        </p:nvSpPr>
        <p:spPr>
          <a:xfrm>
            <a:off x="1522686" y="3244334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>
              <a:solidFill>
                <a:schemeClr val="bg1"/>
              </a:solidFill>
              <a:latin typeface="Palatino Linotype" panose="0204050205050503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8275FAB-FEDD-1110-8219-704ADEBDF0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5202452"/>
              </p:ext>
            </p:extLst>
          </p:nvPr>
        </p:nvGraphicFramePr>
        <p:xfrm>
          <a:off x="4992676" y="4118275"/>
          <a:ext cx="3922296" cy="201748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297248">
                  <a:extLst>
                    <a:ext uri="{9D8B030D-6E8A-4147-A177-3AD203B41FA5}">
                      <a16:colId xmlns:a16="http://schemas.microsoft.com/office/drawing/2014/main" val="1358448905"/>
                    </a:ext>
                  </a:extLst>
                </a:gridCol>
                <a:gridCol w="875016">
                  <a:extLst>
                    <a:ext uri="{9D8B030D-6E8A-4147-A177-3AD203B41FA5}">
                      <a16:colId xmlns:a16="http://schemas.microsoft.com/office/drawing/2014/main" val="1466930279"/>
                    </a:ext>
                  </a:extLst>
                </a:gridCol>
                <a:gridCol w="875016">
                  <a:extLst>
                    <a:ext uri="{9D8B030D-6E8A-4147-A177-3AD203B41FA5}">
                      <a16:colId xmlns:a16="http://schemas.microsoft.com/office/drawing/2014/main" val="3556841350"/>
                    </a:ext>
                  </a:extLst>
                </a:gridCol>
                <a:gridCol w="875016">
                  <a:extLst>
                    <a:ext uri="{9D8B030D-6E8A-4147-A177-3AD203B41FA5}">
                      <a16:colId xmlns:a16="http://schemas.microsoft.com/office/drawing/2014/main" val="3179477369"/>
                    </a:ext>
                  </a:extLst>
                </a:gridCol>
              </a:tblGrid>
              <a:tr h="572113">
                <a:tc>
                  <a:txBody>
                    <a:bodyPr/>
                    <a:lstStyle/>
                    <a:p>
                      <a:pPr algn="ctr"/>
                      <a:endParaRPr lang="en-US" sz="1800">
                        <a:solidFill>
                          <a:schemeClr val="bg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bg1"/>
                          </a:solidFill>
                          <a:latin typeface="Palatino Linotype" panose="02040502050505030304" pitchFamily="18" charset="0"/>
                        </a:rPr>
                        <a:t>Bull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bg1"/>
                          </a:solidFill>
                          <a:latin typeface="Palatino Linotype" panose="02040502050505030304" pitchFamily="18" charset="0"/>
                        </a:rPr>
                        <a:t>Base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bg1"/>
                          </a:solidFill>
                          <a:latin typeface="Palatino Linotype" panose="02040502050505030304" pitchFamily="18" charset="0"/>
                        </a:rPr>
                        <a:t>Bear</a:t>
                      </a: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874052"/>
                  </a:ext>
                </a:extLst>
              </a:tr>
              <a:tr h="1445373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latin typeface="Palatino Linotype" panose="02040502050505030304" pitchFamily="18" charset="0"/>
                        </a:rPr>
                        <a:t>1Y HPR (Annualized)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Palatino Linotype" panose="02040502050505030304" pitchFamily="18" charset="0"/>
                        </a:rPr>
                        <a:t>8.78%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4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Palatino Linotype" panose="02040502050505030304" pitchFamily="18" charset="0"/>
                        </a:rPr>
                        <a:t>7.83%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Palatino Linotype" panose="02040502050505030304" pitchFamily="18" charset="0"/>
                        </a:rPr>
                        <a:t>6.63%</a:t>
                      </a: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CD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492840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6B01C09A-EE7D-0B5D-237C-A6EE1A5F293C}"/>
              </a:ext>
            </a:extLst>
          </p:cNvPr>
          <p:cNvSpPr/>
          <p:nvPr/>
        </p:nvSpPr>
        <p:spPr>
          <a:xfrm>
            <a:off x="261257" y="4118275"/>
            <a:ext cx="4310743" cy="198517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rgbClr val="C00000"/>
                </a:solidFill>
                <a:latin typeface="Palatino Linotype" panose="02040502050505030304" pitchFamily="18" charset="0"/>
              </a:rPr>
              <a:t>Thesis 2:</a:t>
            </a:r>
          </a:p>
          <a:p>
            <a:endParaRPr lang="en-US" b="1" dirty="0">
              <a:solidFill>
                <a:schemeClr val="tx1"/>
              </a:solidFill>
              <a:latin typeface="Palatino Linotype" panose="02040502050505030304" pitchFamily="18" charset="0"/>
            </a:endParaRPr>
          </a:p>
          <a:p>
            <a:r>
              <a:rPr lang="en-US" kern="0" dirty="0">
                <a:solidFill>
                  <a:schemeClr val="tx1"/>
                </a:solidFill>
                <a:latin typeface="Palatino Linotype" panose="02040502050505030304" pitchFamily="18" charset="0"/>
              </a:rPr>
              <a:t>NWL will accelerate their deleveraging as FCF and revenue prove to be an inflection point in FY25 and are expected to rebound through FY28.</a:t>
            </a:r>
          </a:p>
          <a:p>
            <a:endParaRPr lang="en-US" kern="0" dirty="0">
              <a:solidFill>
                <a:schemeClr val="tx1"/>
              </a:solidFill>
              <a:latin typeface="Palatino Linotype" panose="02040502050505030304" pitchFamily="18" charset="0"/>
            </a:endParaRPr>
          </a:p>
          <a:p>
            <a:endParaRPr lang="en-US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381267-A0F4-5C13-0901-E08D6F614BC8}"/>
              </a:ext>
            </a:extLst>
          </p:cNvPr>
          <p:cNvSpPr/>
          <p:nvPr/>
        </p:nvSpPr>
        <p:spPr>
          <a:xfrm>
            <a:off x="261257" y="1698666"/>
            <a:ext cx="4310743" cy="201748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>
                <a:solidFill>
                  <a:srgbClr val="C00000"/>
                </a:solidFill>
                <a:latin typeface="Palatino Linotype" panose="02040502050505030304" pitchFamily="18" charset="0"/>
              </a:rPr>
              <a:t>Thesis 1: </a:t>
            </a:r>
          </a:p>
          <a:p>
            <a:endParaRPr lang="en-US" b="1" kern="0">
              <a:solidFill>
                <a:schemeClr val="tx1"/>
              </a:solidFill>
              <a:latin typeface="Palatino Linotype" panose="02040502050505030304" pitchFamily="18" charset="0"/>
            </a:endParaRPr>
          </a:p>
          <a:p>
            <a:r>
              <a:rPr lang="en-US" kern="0">
                <a:solidFill>
                  <a:schemeClr val="tx1"/>
                </a:solidFill>
                <a:latin typeface="Palatino Linotype" panose="02040502050505030304" pitchFamily="18" charset="0"/>
                <a:ea typeface="Calibri"/>
              </a:rPr>
              <a:t>NWL’s restructuring initiatives are streamlining a fragmented operating model, leading to gains in efficiency and working capital management.</a:t>
            </a:r>
          </a:p>
          <a:p>
            <a:endParaRPr lang="en-US" b="1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98070E-7358-3632-296C-498C3655B8B6}"/>
              </a:ext>
            </a:extLst>
          </p:cNvPr>
          <p:cNvSpPr/>
          <p:nvPr/>
        </p:nvSpPr>
        <p:spPr>
          <a:xfrm>
            <a:off x="254638" y="926306"/>
            <a:ext cx="4310743" cy="551543"/>
          </a:xfrm>
          <a:prstGeom prst="rect">
            <a:avLst/>
          </a:prstGeom>
          <a:solidFill>
            <a:schemeClr val="tx1"/>
          </a:solidFill>
          <a:ln w="3175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kern="0">
                <a:solidFill>
                  <a:schemeClr val="bg1"/>
                </a:solidFill>
                <a:latin typeface="Palatino Linotype" panose="02040502050505030304" pitchFamily="18" charset="0"/>
              </a:rPr>
              <a:t>Investment Summary</a:t>
            </a:r>
          </a:p>
        </p:txBody>
      </p:sp>
      <p:sp>
        <p:nvSpPr>
          <p:cNvPr id="14" name="Title 7">
            <a:extLst>
              <a:ext uri="{FF2B5EF4-FFF2-40B4-BE49-F238E27FC236}">
                <a16:creationId xmlns:a16="http://schemas.microsoft.com/office/drawing/2014/main" id="{168C3C6F-CE4E-8B38-1CB5-BE1A4E520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042" y="268602"/>
            <a:ext cx="6497782" cy="369332"/>
          </a:xfrm>
        </p:spPr>
        <p:txBody>
          <a:bodyPr>
            <a:normAutofit fontScale="90000"/>
          </a:bodyPr>
          <a:lstStyle/>
          <a:p>
            <a:r>
              <a:rPr lang="en-US" sz="2400">
                <a:solidFill>
                  <a:srgbClr val="00B050"/>
                </a:solidFill>
                <a:latin typeface="Palatino Linotype" panose="02040502050505030304" pitchFamily="18" charset="0"/>
              </a:rPr>
              <a:t>Buy</a:t>
            </a:r>
            <a:r>
              <a:rPr lang="en-US" sz="2400">
                <a:latin typeface="Palatino Linotype" panose="02040502050505030304" pitchFamily="18" charset="0"/>
              </a:rPr>
              <a:t> NWL 6.375% 5/15/30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F63009-C068-56E4-AEE7-1F0694246D9A}"/>
              </a:ext>
            </a:extLst>
          </p:cNvPr>
          <p:cNvSpPr txBox="1"/>
          <p:nvPr/>
        </p:nvSpPr>
        <p:spPr>
          <a:xfrm>
            <a:off x="6268573" y="6611779"/>
            <a:ext cx="26949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>
                <a:latin typeface="Palatino Linotype" panose="02040502050505030304" pitchFamily="18" charset="0"/>
              </a:rPr>
              <a:t>Source(s): Bloomberg, FactSet, Company Filings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D44FA3-8805-BA38-7C10-6D77FFDE8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2860" y="6596809"/>
            <a:ext cx="304223" cy="276159"/>
          </a:xfrm>
        </p:spPr>
        <p:txBody>
          <a:bodyPr/>
          <a:lstStyle/>
          <a:p>
            <a:fld id="{FD26A2CB-1AF5-41D7-B1FE-597F5196BBF2}" type="slidenum">
              <a:rPr lang="en-US" smtClean="0">
                <a:latin typeface="Palatino Linotype" panose="02040502050505030304" pitchFamily="18" charset="0"/>
              </a:rPr>
              <a:t>2</a:t>
            </a:fld>
            <a:endParaRPr lang="en-US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042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37C6A-FA9E-0991-9C9D-B6509A8FC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540" y="2766218"/>
            <a:ext cx="7360920" cy="1325563"/>
          </a:xfrm>
        </p:spPr>
        <p:txBody>
          <a:bodyPr/>
          <a:lstStyle/>
          <a:p>
            <a:pPr algn="ctr"/>
            <a:r>
              <a:rPr lang="en-US" sz="2800" b="1">
                <a:latin typeface="Palatino Linotype" panose="02040502050505030304" pitchFamily="18" charset="0"/>
              </a:rPr>
              <a:t>Company</a:t>
            </a:r>
            <a:r>
              <a:rPr lang="en-US" b="1">
                <a:latin typeface="Palatino Linotype" panose="02040502050505030304" pitchFamily="18" charset="0"/>
              </a:rPr>
              <a:t> </a:t>
            </a:r>
            <a:r>
              <a:rPr lang="en-US" sz="2800" b="1">
                <a:latin typeface="Palatino Linotype" panose="02040502050505030304" pitchFamily="18" charset="0"/>
              </a:rPr>
              <a:t>Overview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8B521854-C890-28EC-DCD4-7A56FB7DC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2860" y="6596809"/>
            <a:ext cx="304223" cy="276159"/>
          </a:xfrm>
        </p:spPr>
        <p:txBody>
          <a:bodyPr/>
          <a:lstStyle/>
          <a:p>
            <a:fld id="{FD26A2CB-1AF5-41D7-B1FE-597F5196BBF2}" type="slidenum">
              <a:rPr lang="en-US" smtClean="0">
                <a:latin typeface="Palatino Linotype" panose="02040502050505030304" pitchFamily="18" charset="0"/>
              </a:rPr>
              <a:t>3</a:t>
            </a:fld>
            <a:endParaRPr lang="en-US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94197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4C6DFB-BF6E-4D21-ABB4-EFF314CD086C}"/>
              </a:ext>
            </a:extLst>
          </p:cNvPr>
          <p:cNvSpPr txBox="1"/>
          <p:nvPr/>
        </p:nvSpPr>
        <p:spPr>
          <a:xfrm>
            <a:off x="363681" y="210156"/>
            <a:ext cx="8416636" cy="830997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chemeClr val="bg1"/>
                </a:solidFill>
                <a:latin typeface="Palatino Linotype" panose="02040502050505030304" pitchFamily="18" charset="0"/>
              </a:rPr>
              <a:t>Newell Brands (NWL) is a conglomerate producer of ~55 brands across a range of end markets broken into 3 segments. Since acquiring Jarden Co. in 2016, NWL has been focused on reducing the brand portfolio, product innovation, and improving operations.</a:t>
            </a:r>
            <a:endParaRPr lang="en-US" sz="1600">
              <a:solidFill>
                <a:schemeClr val="bg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7074CA-3AF9-8765-4092-F89EFEB10DDB}"/>
              </a:ext>
            </a:extLst>
          </p:cNvPr>
          <p:cNvSpPr txBox="1"/>
          <p:nvPr/>
        </p:nvSpPr>
        <p:spPr>
          <a:xfrm>
            <a:off x="151355" y="3009889"/>
            <a:ext cx="3803610" cy="103105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600" b="1">
                <a:latin typeface="Palatino Linotype" panose="02040502050505030304" pitchFamily="18" charset="0"/>
              </a:rPr>
              <a:t>Learning and Development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>
                <a:latin typeface="Palatino Linotype" panose="02040502050505030304" pitchFamily="18" charset="0"/>
              </a:rPr>
              <a:t>Key Products: permanent markers, gel &amp; ballpoint pens, pencils, glue, car seats, and strollers.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AD3A42-76B7-9DB0-C248-DE1B094DADA3}"/>
              </a:ext>
            </a:extLst>
          </p:cNvPr>
          <p:cNvSpPr txBox="1"/>
          <p:nvPr/>
        </p:nvSpPr>
        <p:spPr>
          <a:xfrm>
            <a:off x="151355" y="4275775"/>
            <a:ext cx="3803610" cy="103105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600" b="1">
                <a:latin typeface="Palatino Linotype" panose="02040502050505030304" pitchFamily="18" charset="0"/>
              </a:rPr>
              <a:t>Outdoor and Recreation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>
                <a:latin typeface="Palatino Linotype" panose="02040502050505030304" pitchFamily="18" charset="0"/>
              </a:rPr>
              <a:t>Key Products: tents, portable power, water bottles, outerwear, cooking gear and cold storage systems.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70BCD5-67DC-443D-F0CA-29F75379ABD5}"/>
              </a:ext>
            </a:extLst>
          </p:cNvPr>
          <p:cNvSpPr txBox="1"/>
          <p:nvPr/>
        </p:nvSpPr>
        <p:spPr>
          <a:xfrm>
            <a:off x="151355" y="1797957"/>
            <a:ext cx="3803610" cy="103105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600" b="1">
                <a:latin typeface="Palatino Linotype" panose="02040502050505030304" pitchFamily="18" charset="0"/>
              </a:rPr>
              <a:t>Home and Commercial Solutions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>
                <a:latin typeface="Palatino Linotype" panose="02040502050505030304" pitchFamily="18" charset="0"/>
              </a:rPr>
              <a:t>Key Products: food storage, cookware, waste/recycling receptacles, and candles.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9095E8-805D-893D-C3AA-5CB11E60EB95}"/>
              </a:ext>
            </a:extLst>
          </p:cNvPr>
          <p:cNvSpPr txBox="1"/>
          <p:nvPr/>
        </p:nvSpPr>
        <p:spPr>
          <a:xfrm>
            <a:off x="151355" y="1296413"/>
            <a:ext cx="3803610" cy="3077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Palatino Linotype" panose="02040502050505030304" pitchFamily="18" charset="0"/>
              </a:rPr>
              <a:t>Revenue Segments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863C33-4537-1A6C-4B1F-47352D6961B4}"/>
              </a:ext>
            </a:extLst>
          </p:cNvPr>
          <p:cNvSpPr txBox="1"/>
          <p:nvPr/>
        </p:nvSpPr>
        <p:spPr>
          <a:xfrm>
            <a:off x="4572000" y="1296413"/>
            <a:ext cx="4208317" cy="3077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Palatino Linotype" panose="02040502050505030304" pitchFamily="18" charset="0"/>
              </a:rPr>
              <a:t>Operations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CB865F5-0F8E-94B3-99EC-07C391197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6562" y="2233271"/>
            <a:ext cx="4293755" cy="23914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575E7D0-1E1D-92B8-8E13-A03AA6C36A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4141" y="5541661"/>
            <a:ext cx="6555717" cy="103105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42DAA969-AAC8-CC17-B822-3EE10E42B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2860" y="6596809"/>
            <a:ext cx="304223" cy="276159"/>
          </a:xfrm>
        </p:spPr>
        <p:txBody>
          <a:bodyPr/>
          <a:lstStyle/>
          <a:p>
            <a:fld id="{FD26A2CB-1AF5-41D7-B1FE-597F5196BBF2}" type="slidenum">
              <a:rPr lang="en-US" smtClean="0">
                <a:latin typeface="Palatino Linotype" panose="02040502050505030304" pitchFamily="18" charset="0"/>
              </a:rPr>
              <a:t>4</a:t>
            </a:fld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D902A3-44F4-254B-D985-0608FBEAB2E2}"/>
              </a:ext>
            </a:extLst>
          </p:cNvPr>
          <p:cNvSpPr txBox="1"/>
          <p:nvPr/>
        </p:nvSpPr>
        <p:spPr>
          <a:xfrm>
            <a:off x="6268573" y="6611779"/>
            <a:ext cx="26949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>
                <a:latin typeface="Palatino Linotype" panose="02040502050505030304" pitchFamily="18" charset="0"/>
              </a:rPr>
              <a:t>Source(s): Bloomberg, FactSet, Company Filings</a:t>
            </a:r>
          </a:p>
        </p:txBody>
      </p:sp>
    </p:spTree>
    <p:extLst>
      <p:ext uri="{BB962C8B-B14F-4D97-AF65-F5344CB8AC3E}">
        <p14:creationId xmlns:p14="http://schemas.microsoft.com/office/powerpoint/2010/main" val="25174344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8668C290-AB73-8B04-5B63-64776B4434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4782" y="4067396"/>
            <a:ext cx="3930422" cy="236191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D9A939F-DC8F-E329-3080-CBA2400393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744" y="4067396"/>
            <a:ext cx="3851856" cy="236191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A98D0C5-FB3F-05EE-5A52-53ED65C851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4782" y="1322963"/>
            <a:ext cx="3930422" cy="236191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9" name="TextBox 3">
            <a:extLst>
              <a:ext uri="{FF2B5EF4-FFF2-40B4-BE49-F238E27FC236}">
                <a16:creationId xmlns:a16="http://schemas.microsoft.com/office/drawing/2014/main" id="{0906609E-6B15-F6FA-B7C4-2D09E81E11E3}"/>
              </a:ext>
            </a:extLst>
          </p:cNvPr>
          <p:cNvSpPr txBox="1"/>
          <p:nvPr/>
        </p:nvSpPr>
        <p:spPr>
          <a:xfrm>
            <a:off x="562850" y="428691"/>
            <a:ext cx="8262354" cy="58477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>
                <a:solidFill>
                  <a:schemeClr val="bg1"/>
                </a:solidFill>
                <a:latin typeface="Palatino Linotype" panose="02040502050505030304" pitchFamily="18" charset="0"/>
              </a:rPr>
              <a:t>NWL’s revenue mix is driven by H&amp;CS (~50%) followed by L&amp;D (~40%) and O&amp;R (~10%). Gross margin is up 380 bps since 2022, highlighted by a 609 bp gain in O&amp;R.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BF56D5EA-03C2-B2E1-FCEA-4F0DD84FE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2860" y="6596809"/>
            <a:ext cx="304223" cy="276159"/>
          </a:xfrm>
        </p:spPr>
        <p:txBody>
          <a:bodyPr/>
          <a:lstStyle/>
          <a:p>
            <a:fld id="{FD26A2CB-1AF5-41D7-B1FE-597F5196BBF2}" type="slidenum">
              <a:rPr lang="en-US" smtClean="0">
                <a:latin typeface="Palatino Linotype" panose="02040502050505030304" pitchFamily="18" charset="0"/>
              </a:rPr>
              <a:t>5</a:t>
            </a:fld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23E942-70FD-1A1F-6E96-4612793BF849}"/>
              </a:ext>
            </a:extLst>
          </p:cNvPr>
          <p:cNvSpPr txBox="1"/>
          <p:nvPr/>
        </p:nvSpPr>
        <p:spPr>
          <a:xfrm>
            <a:off x="6268573" y="6611779"/>
            <a:ext cx="26949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>
                <a:latin typeface="Palatino Linotype" panose="02040502050505030304" pitchFamily="18" charset="0"/>
              </a:rPr>
              <a:t>Source(s): Bloomberg, FactSet, Company Filings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FAFA32-5D9A-750F-54C6-31C958DF45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476" y="1322963"/>
            <a:ext cx="3946124" cy="237134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171485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CD63858-0657-A360-2A6F-00B3A856E4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9609903"/>
              </p:ext>
            </p:extLst>
          </p:nvPr>
        </p:nvGraphicFramePr>
        <p:xfrm>
          <a:off x="644236" y="1173312"/>
          <a:ext cx="7855528" cy="498980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3927764">
                  <a:extLst>
                    <a:ext uri="{9D8B030D-6E8A-4147-A177-3AD203B41FA5}">
                      <a16:colId xmlns:a16="http://schemas.microsoft.com/office/drawing/2014/main" val="4099247513"/>
                    </a:ext>
                  </a:extLst>
                </a:gridCol>
                <a:gridCol w="3927764">
                  <a:extLst>
                    <a:ext uri="{9D8B030D-6E8A-4147-A177-3AD203B41FA5}">
                      <a16:colId xmlns:a16="http://schemas.microsoft.com/office/drawing/2014/main" val="3019084429"/>
                    </a:ext>
                  </a:extLst>
                </a:gridCol>
              </a:tblGrid>
              <a:tr h="456208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Palatino Linotype" panose="02040502050505030304" pitchFamily="18" charset="0"/>
                        </a:rPr>
                        <a:t>Moody’s (B2/Negative)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Palatino Linotype" panose="02040502050505030304" pitchFamily="18" charset="0"/>
                        </a:rPr>
                        <a:t>S&amp;P (B+/Stable)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2415853"/>
                  </a:ext>
                </a:extLst>
              </a:tr>
              <a:tr h="2043261">
                <a:tc>
                  <a:txBody>
                    <a:bodyPr/>
                    <a:lstStyle/>
                    <a:p>
                      <a:r>
                        <a:rPr lang="en-US" sz="1500" b="1">
                          <a:latin typeface="Palatino Linotype" panose="02040502050505030304" pitchFamily="18" charset="0"/>
                        </a:rPr>
                        <a:t>Upgrade Triggers:</a:t>
                      </a:r>
                    </a:p>
                    <a:p>
                      <a:endParaRPr lang="en-US" sz="1500" b="1">
                        <a:latin typeface="Palatino Linotype" panose="02040502050505030304" pitchFamily="18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500" b="0" i="0">
                          <a:solidFill>
                            <a:schemeClr val="dk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EBITDA margin grows to mid-teens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500" b="0" i="0">
                        <a:solidFill>
                          <a:schemeClr val="dk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500" b="0" i="0">
                          <a:solidFill>
                            <a:schemeClr val="dk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FCF/Debt sustained at minimum 4%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500" b="0" i="0">
                        <a:solidFill>
                          <a:schemeClr val="dk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500" b="0" i="0">
                          <a:solidFill>
                            <a:schemeClr val="dk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Total Debt/EBITDA below 5.0x </a:t>
                      </a:r>
                      <a:endParaRPr lang="en-US" sz="1500" b="1">
                        <a:latin typeface="Palatino Linotype" panose="02040502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1">
                          <a:latin typeface="Palatino Linotype" panose="02040502050505030304" pitchFamily="18" charset="0"/>
                        </a:rPr>
                        <a:t>Upgrade Triggers:</a:t>
                      </a: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500" b="1">
                        <a:latin typeface="Palatino Linotype" panose="02040502050505030304" pitchFamily="18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500">
                          <a:latin typeface="Palatino Linotype" panose="02040502050505030304" pitchFamily="18" charset="0"/>
                        </a:rPr>
                        <a:t>Leverage is sustained below 5.0x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600">
                        <a:latin typeface="Palatino Linotype" panose="02040502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7667198"/>
                  </a:ext>
                </a:extLst>
              </a:tr>
              <a:tr h="2490339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>
                          <a:latin typeface="Palatino Linotype" panose="02040502050505030304" pitchFamily="18" charset="0"/>
                        </a:rPr>
                        <a:t>Downgrade Triggers:</a:t>
                      </a: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500" b="1">
                        <a:latin typeface="Palatino Linotype" panose="02040502050505030304" pitchFamily="18" charset="0"/>
                      </a:endParaRPr>
                    </a:p>
                    <a:p>
                      <a:pPr marL="285750" marR="0" lvl="0" indent="-28575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500" b="0" i="0">
                          <a:solidFill>
                            <a:schemeClr val="dk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Total Debt/EBITDA sustained above 6.0x</a:t>
                      </a:r>
                    </a:p>
                    <a:p>
                      <a:pPr marL="285750" marR="0" lvl="0" indent="-28575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500" b="0" i="0">
                        <a:solidFill>
                          <a:schemeClr val="dk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marL="285750" marR="0" lvl="0" indent="-28575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500" b="0" i="0">
                          <a:solidFill>
                            <a:schemeClr val="dk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Lack of comfortable FCF</a:t>
                      </a:r>
                    </a:p>
                    <a:p>
                      <a:pPr marL="285750" marR="0" lvl="0" indent="-28575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500" b="0" i="0">
                        <a:solidFill>
                          <a:schemeClr val="dk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marL="285750" marR="0" lvl="0" indent="-28575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500" b="0" i="0">
                          <a:solidFill>
                            <a:schemeClr val="dk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Revenue and/or EBITDA fail to grow</a:t>
                      </a:r>
                      <a:endParaRPr lang="en-US" sz="1500" b="1">
                        <a:latin typeface="Palatino Linotype" panose="02040502050505030304" pitchFamily="18" charset="0"/>
                      </a:endParaRPr>
                    </a:p>
                    <a:p>
                      <a:endParaRPr lang="en-US" sz="1600" b="1">
                        <a:latin typeface="Palatino Linotype" panose="02040502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>
                          <a:latin typeface="Palatino Linotype" panose="02040502050505030304" pitchFamily="18" charset="0"/>
                        </a:rPr>
                        <a:t>Downgrade Triggers:</a:t>
                      </a:r>
                    </a:p>
                    <a:p>
                      <a:endParaRPr lang="en-US" sz="1500" b="1">
                        <a:latin typeface="Palatino Linotype" panose="02040502050505030304" pitchFamily="18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500" b="0">
                          <a:latin typeface="Palatino Linotype" panose="02040502050505030304" pitchFamily="18" charset="0"/>
                        </a:rPr>
                        <a:t>Debt/EBITDA is sustained above 6.0x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500" b="0">
                        <a:latin typeface="Palatino Linotype" panose="02040502050505030304" pitchFamily="18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500" b="0">
                          <a:latin typeface="Palatino Linotype" panose="02040502050505030304" pitchFamily="18" charset="0"/>
                        </a:rPr>
                        <a:t>FOCF (FFO – CapEx) turns negative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3751021"/>
                  </a:ext>
                </a:extLst>
              </a:tr>
            </a:tbl>
          </a:graphicData>
        </a:graphic>
      </p:graphicFrame>
      <p:sp>
        <p:nvSpPr>
          <p:cNvPr id="3" name="Title 7">
            <a:extLst>
              <a:ext uri="{FF2B5EF4-FFF2-40B4-BE49-F238E27FC236}">
                <a16:creationId xmlns:a16="http://schemas.microsoft.com/office/drawing/2014/main" id="{4C453F7E-FD68-16A1-6A3E-AB51098915D5}"/>
              </a:ext>
            </a:extLst>
          </p:cNvPr>
          <p:cNvSpPr txBox="1">
            <a:spLocks/>
          </p:cNvSpPr>
          <p:nvPr/>
        </p:nvSpPr>
        <p:spPr>
          <a:xfrm>
            <a:off x="1446068" y="501491"/>
            <a:ext cx="6251864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ctr"/>
            <a:r>
              <a:rPr lang="en-US" kern="0">
                <a:solidFill>
                  <a:schemeClr val="tx1"/>
                </a:solidFill>
                <a:latin typeface="Palatino Linotype" panose="02040502050505030304" pitchFamily="18" charset="0"/>
              </a:rPr>
              <a:t>Upgrade and Downgrade Triggers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478EF2-3EF1-A3C8-9ED1-8D89CCB80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2860" y="6596809"/>
            <a:ext cx="304223" cy="276159"/>
          </a:xfrm>
        </p:spPr>
        <p:txBody>
          <a:bodyPr/>
          <a:lstStyle/>
          <a:p>
            <a:fld id="{FD26A2CB-1AF5-41D7-B1FE-597F5196BBF2}" type="slidenum">
              <a:rPr lang="en-US" smtClean="0">
                <a:latin typeface="Palatino Linotype" panose="02040502050505030304" pitchFamily="18" charset="0"/>
              </a:rPr>
              <a:t>6</a:t>
            </a:fld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201F2F-8D9D-8A2C-19DE-6DD22D5F5ED5}"/>
              </a:ext>
            </a:extLst>
          </p:cNvPr>
          <p:cNvSpPr txBox="1"/>
          <p:nvPr/>
        </p:nvSpPr>
        <p:spPr>
          <a:xfrm>
            <a:off x="6268573" y="6611779"/>
            <a:ext cx="26949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>
                <a:latin typeface="Palatino Linotype" panose="02040502050505030304" pitchFamily="18" charset="0"/>
              </a:rPr>
              <a:t>Source(s): Bloomberg, FactSet, Company Filings</a:t>
            </a:r>
          </a:p>
        </p:txBody>
      </p:sp>
    </p:spTree>
    <p:extLst>
      <p:ext uri="{BB962C8B-B14F-4D97-AF65-F5344CB8AC3E}">
        <p14:creationId xmlns:p14="http://schemas.microsoft.com/office/powerpoint/2010/main" val="3314785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92D3A9-D426-DF71-3B62-44BEC088CBF7}"/>
              </a:ext>
            </a:extLst>
          </p:cNvPr>
          <p:cNvSpPr txBox="1"/>
          <p:nvPr/>
        </p:nvSpPr>
        <p:spPr>
          <a:xfrm>
            <a:off x="1431281" y="2905780"/>
            <a:ext cx="62814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>
                <a:latin typeface="Palatino Linotype" panose="02040502050505030304" pitchFamily="18" charset="0"/>
              </a:rPr>
              <a:t>Investment Thesis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FDB54BE0-BE33-B83A-7F1A-FF85D4638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2860" y="6596809"/>
            <a:ext cx="304223" cy="276159"/>
          </a:xfrm>
        </p:spPr>
        <p:txBody>
          <a:bodyPr/>
          <a:lstStyle/>
          <a:p>
            <a:fld id="{FD26A2CB-1AF5-41D7-B1FE-597F5196BBF2}" type="slidenum">
              <a:rPr lang="en-US" smtClean="0">
                <a:latin typeface="Palatino Linotype" panose="02040502050505030304" pitchFamily="18" charset="0"/>
              </a:rPr>
              <a:t>7</a:t>
            </a:fld>
            <a:endParaRPr lang="en-US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6394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7">
            <a:extLst>
              <a:ext uri="{FF2B5EF4-FFF2-40B4-BE49-F238E27FC236}">
                <a16:creationId xmlns:a16="http://schemas.microsoft.com/office/drawing/2014/main" id="{3AD4E944-5C3B-C44F-B8F0-30206F230034}"/>
              </a:ext>
            </a:extLst>
          </p:cNvPr>
          <p:cNvSpPr txBox="1">
            <a:spLocks/>
          </p:cNvSpPr>
          <p:nvPr/>
        </p:nvSpPr>
        <p:spPr>
          <a:xfrm>
            <a:off x="866010" y="360093"/>
            <a:ext cx="7241104" cy="70788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1" i="0" kern="120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kern="0">
                <a:solidFill>
                  <a:schemeClr val="tx2">
                    <a:lumMod val="50000"/>
                    <a:lumOff val="50000"/>
                  </a:schemeClr>
                </a:solidFill>
                <a:latin typeface="Palatino Linotype" panose="02040502050505030304" pitchFamily="18" charset="0"/>
              </a:rPr>
              <a:t>Thesis Point 1: </a:t>
            </a:r>
            <a:r>
              <a:rPr lang="en-US" sz="1400" kern="0">
                <a:solidFill>
                  <a:schemeClr val="tx1"/>
                </a:solidFill>
                <a:latin typeface="Palatino Linotype" panose="02040502050505030304" pitchFamily="18" charset="0"/>
                <a:ea typeface="Calibri"/>
              </a:rPr>
              <a:t>NWL’s restructuring initiatives are streamlining a fragmented operating model, leading to gains in efficiency and working capital management.</a:t>
            </a:r>
          </a:p>
          <a:p>
            <a:endParaRPr lang="en-US" sz="1600" kern="0">
              <a:solidFill>
                <a:schemeClr val="tx1"/>
              </a:solidFill>
              <a:latin typeface="Palatino Linotype" panose="02040502050505030304" pitchFamily="18" charset="0"/>
              <a:ea typeface="Calibri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D0F8078-E047-6BCA-254E-24C4D9C4E6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0519726"/>
              </p:ext>
            </p:extLst>
          </p:nvPr>
        </p:nvGraphicFramePr>
        <p:xfrm>
          <a:off x="626832" y="1154898"/>
          <a:ext cx="7890335" cy="2445176"/>
        </p:xfrm>
        <a:graphic>
          <a:graphicData uri="http://schemas.openxmlformats.org/drawingml/2006/table">
            <a:tbl>
              <a:tblPr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7890335">
                  <a:extLst>
                    <a:ext uri="{9D8B030D-6E8A-4147-A177-3AD203B41FA5}">
                      <a16:colId xmlns:a16="http://schemas.microsoft.com/office/drawing/2014/main" val="3649409446"/>
                    </a:ext>
                  </a:extLst>
                </a:gridCol>
              </a:tblGrid>
              <a:tr h="346068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500" b="1" i="0">
                          <a:solidFill>
                            <a:srgbClr val="FFFFFF"/>
                          </a:solidFill>
                          <a:effectLst/>
                          <a:latin typeface="Palatino Linotype" panose="02040502050505030304" pitchFamily="18" charset="0"/>
                        </a:rPr>
                        <a:t>Consolidated Supply Chain</a:t>
                      </a:r>
                      <a:r>
                        <a:rPr lang="en-US" sz="15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​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7428" marR="87428" marT="43714" marB="43714" anchor="ctr">
                    <a:lnL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541066"/>
                  </a:ext>
                </a:extLst>
              </a:tr>
              <a:tr h="1486270">
                <a:tc>
                  <a:txBody>
                    <a:bodyPr/>
                    <a:lstStyle/>
                    <a:p>
                      <a:pPr algn="l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5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NWL has merged 23 independent supply chains onto 1 central network, allowing for customers to order across different brands in one space and reducing the suppliers needed.</a:t>
                      </a:r>
                    </a:p>
                    <a:p>
                      <a:pPr algn="l" fontAlgn="base">
                        <a:buFont typeface="Arial" panose="020B0604020202020204" pitchFamily="34" charset="0"/>
                        <a:buNone/>
                      </a:pPr>
                      <a:endParaRPr lang="en-US" sz="1500" b="0" i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  <a:p>
                      <a:pPr algn="l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5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Production has shifted to 57% of products made domestically, with Chinese production declining from 35% to 10%. A global network of 42 plants allow for production flexibility.</a:t>
                      </a:r>
                    </a:p>
                    <a:p>
                      <a:pPr algn="l" fontAlgn="base">
                        <a:buFont typeface="Arial" panose="020B0604020202020204" pitchFamily="34" charset="0"/>
                        <a:buNone/>
                      </a:pPr>
                      <a:endParaRPr lang="en-US" sz="1500" b="0" i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  <a:p>
                      <a:pPr algn="l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5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A new ERP system covering 95%, up from 35%, of the business will be completed by Fall 2026 to integrate supply chain with retailers and implement AI across the enterprise.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l" fontAlgn="base">
                        <a:buFont typeface="Arial" panose="020B0604020202020204" pitchFamily="34" charset="0"/>
                        <a:buNone/>
                      </a:pP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428" marR="87428" marT="43714" marB="43714">
                    <a:lnL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3443831"/>
                  </a:ext>
                </a:extLst>
              </a:tr>
            </a:tbl>
          </a:graphicData>
        </a:graphic>
      </p:graphicFrame>
      <p:sp>
        <p:nvSpPr>
          <p:cNvPr id="11" name="Rectangle 1">
            <a:extLst>
              <a:ext uri="{FF2B5EF4-FFF2-40B4-BE49-F238E27FC236}">
                <a16:creationId xmlns:a16="http://schemas.microsoft.com/office/drawing/2014/main" id="{1D5CE85C-5500-F76D-9DE3-EC58E9B45D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894" y="15960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EB455B12-75A8-3811-EDBE-16157F199C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3809062"/>
              </p:ext>
            </p:extLst>
          </p:nvPr>
        </p:nvGraphicFramePr>
        <p:xfrm>
          <a:off x="626832" y="3926098"/>
          <a:ext cx="3859730" cy="2524125"/>
        </p:xfrm>
        <a:graphic>
          <a:graphicData uri="http://schemas.openxmlformats.org/drawingml/2006/table">
            <a:tbl>
              <a:tblPr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3859730">
                  <a:extLst>
                    <a:ext uri="{9D8B030D-6E8A-4147-A177-3AD203B41FA5}">
                      <a16:colId xmlns:a16="http://schemas.microsoft.com/office/drawing/2014/main" val="2744201369"/>
                    </a:ext>
                  </a:extLst>
                </a:gridCol>
              </a:tblGrid>
              <a:tr h="542925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500" b="1" i="0">
                          <a:solidFill>
                            <a:srgbClr val="FFFFFF"/>
                          </a:solidFill>
                          <a:effectLst/>
                          <a:latin typeface="Palatino Linotype" panose="02040502050505030304" pitchFamily="18" charset="0"/>
                        </a:rPr>
                        <a:t>Inventory Management</a:t>
                      </a:r>
                      <a:r>
                        <a:rPr lang="en-US" sz="15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​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9734640"/>
                  </a:ext>
                </a:extLst>
              </a:tr>
              <a:tr h="1981200">
                <a:tc>
                  <a:txBody>
                    <a:bodyPr/>
                    <a:lstStyle/>
                    <a:p>
                      <a:pPr algn="l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5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SKUs dropped 80% to 20k units, cutting out 50% of SKUs that were 2% of sales.​</a:t>
                      </a:r>
                    </a:p>
                    <a:p>
                      <a:pPr algn="l" fontAlgn="base">
                        <a:buFont typeface="Arial" panose="020B0604020202020204" pitchFamily="34" charset="0"/>
                        <a:buNone/>
                      </a:pPr>
                      <a:endParaRPr lang="en-US" sz="1500" b="0" i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l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5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E&amp;O inventory has declined by 50%, reducing products that never get sold.</a:t>
                      </a:r>
                    </a:p>
                    <a:p>
                      <a:pPr algn="l" fontAlgn="base">
                        <a:buFont typeface="Arial" panose="020B0604020202020204" pitchFamily="34" charset="0"/>
                        <a:buChar char="•"/>
                      </a:pPr>
                      <a:endParaRPr lang="en-US" sz="1500" b="0" i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  <a:p>
                      <a:pPr algn="l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5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Production lead time has dropped by 10 days, slimming required inventory held.</a:t>
                      </a:r>
                    </a:p>
                  </a:txBody>
                  <a:tcPr>
                    <a:lnL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2337761"/>
                  </a:ext>
                </a:extLst>
              </a:tr>
            </a:tbl>
          </a:graphicData>
        </a:graphic>
      </p:graphicFrame>
      <p:sp>
        <p:nvSpPr>
          <p:cNvPr id="14" name="Rectangle 2">
            <a:extLst>
              <a:ext uri="{FF2B5EF4-FFF2-40B4-BE49-F238E27FC236}">
                <a16:creationId xmlns:a16="http://schemas.microsoft.com/office/drawing/2014/main" id="{B3E91B14-2BDC-AC28-242B-D6A1EF142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894" y="389816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B2BE8E76-811B-020D-81C5-DA619C325F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6809" y="3885146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31333E47-3AD7-B664-6895-246C2320C4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6880207"/>
              </p:ext>
            </p:extLst>
          </p:nvPr>
        </p:nvGraphicFramePr>
        <p:xfrm>
          <a:off x="4646806" y="3926098"/>
          <a:ext cx="3870361" cy="2524124"/>
        </p:xfrm>
        <a:graphic>
          <a:graphicData uri="http://schemas.openxmlformats.org/drawingml/2006/table">
            <a:tbl>
              <a:tblPr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3870361">
                  <a:extLst>
                    <a:ext uri="{9D8B030D-6E8A-4147-A177-3AD203B41FA5}">
                      <a16:colId xmlns:a16="http://schemas.microsoft.com/office/drawing/2014/main" val="2744201369"/>
                    </a:ext>
                  </a:extLst>
                </a:gridCol>
              </a:tblGrid>
              <a:tr h="542924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500" b="1" i="0">
                          <a:solidFill>
                            <a:srgbClr val="FFFFFF"/>
                          </a:solidFill>
                          <a:effectLst/>
                          <a:latin typeface="Palatino Linotype" panose="02040502050505030304" pitchFamily="18" charset="0"/>
                        </a:rPr>
                        <a:t>Distribution Gains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9734640"/>
                  </a:ext>
                </a:extLst>
              </a:tr>
              <a:tr h="1981200">
                <a:tc>
                  <a:txBody>
                    <a:bodyPr/>
                    <a:lstStyle/>
                    <a:p>
                      <a:pPr algn="l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5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International distributors are down 40%, leading to fewer moving pieces. ​</a:t>
                      </a:r>
                    </a:p>
                    <a:p>
                      <a:pPr algn="l" fontAlgn="base">
                        <a:buFont typeface="Arial" panose="020B0604020202020204" pitchFamily="34" charset="0"/>
                        <a:buNone/>
                      </a:pPr>
                      <a:endParaRPr lang="en-US" sz="1500" b="0" i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l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5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Suppliers have reduced 25% since 2022, simplifying the ordering process.</a:t>
                      </a:r>
                    </a:p>
                    <a:p>
                      <a:pPr algn="l" fontAlgn="base">
                        <a:buFont typeface="Arial" panose="020B0604020202020204" pitchFamily="34" charset="0"/>
                        <a:buChar char="•"/>
                      </a:pPr>
                      <a:endParaRPr lang="en-US" sz="1500" b="0" i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  <a:p>
                      <a:pPr algn="l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5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Order fill rate of 96% for FY25 was achieved as a result, highest since 2016.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2337761"/>
                  </a:ext>
                </a:extLst>
              </a:tr>
            </a:tbl>
          </a:graphicData>
        </a:graphic>
      </p:graphicFrame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0B5DB1EB-C19E-1878-260A-8F350E4BB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2860" y="6596809"/>
            <a:ext cx="304223" cy="276159"/>
          </a:xfrm>
        </p:spPr>
        <p:txBody>
          <a:bodyPr/>
          <a:lstStyle/>
          <a:p>
            <a:fld id="{FD26A2CB-1AF5-41D7-B1FE-597F5196BBF2}" type="slidenum">
              <a:rPr lang="en-US" smtClean="0">
                <a:latin typeface="Palatino Linotype" panose="02040502050505030304" pitchFamily="18" charset="0"/>
              </a:rPr>
              <a:t>8</a:t>
            </a:fld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1BAFDF-435F-AE83-0798-C69FB165EF98}"/>
              </a:ext>
            </a:extLst>
          </p:cNvPr>
          <p:cNvSpPr txBox="1"/>
          <p:nvPr/>
        </p:nvSpPr>
        <p:spPr>
          <a:xfrm>
            <a:off x="6268573" y="6611779"/>
            <a:ext cx="26949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>
                <a:latin typeface="Palatino Linotype" panose="02040502050505030304" pitchFamily="18" charset="0"/>
              </a:rPr>
              <a:t>Source(s): Bloomberg, FactSet, Company Filings</a:t>
            </a:r>
          </a:p>
        </p:txBody>
      </p:sp>
    </p:spTree>
    <p:extLst>
      <p:ext uri="{BB962C8B-B14F-4D97-AF65-F5344CB8AC3E}">
        <p14:creationId xmlns:p14="http://schemas.microsoft.com/office/powerpoint/2010/main" val="34634750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8460F3A-817F-7FE8-99F5-DED5383EC0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2277112"/>
              </p:ext>
            </p:extLst>
          </p:nvPr>
        </p:nvGraphicFramePr>
        <p:xfrm>
          <a:off x="415637" y="1626923"/>
          <a:ext cx="8312723" cy="875287"/>
        </p:xfrm>
        <a:graphic>
          <a:graphicData uri="http://schemas.openxmlformats.org/drawingml/2006/table">
            <a:tbl>
              <a:tblPr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1124380">
                  <a:extLst>
                    <a:ext uri="{9D8B030D-6E8A-4147-A177-3AD203B41FA5}">
                      <a16:colId xmlns:a16="http://schemas.microsoft.com/office/drawing/2014/main" val="2417152349"/>
                    </a:ext>
                  </a:extLst>
                </a:gridCol>
                <a:gridCol w="730367">
                  <a:extLst>
                    <a:ext uri="{9D8B030D-6E8A-4147-A177-3AD203B41FA5}">
                      <a16:colId xmlns:a16="http://schemas.microsoft.com/office/drawing/2014/main" val="782727982"/>
                    </a:ext>
                  </a:extLst>
                </a:gridCol>
                <a:gridCol w="922568">
                  <a:extLst>
                    <a:ext uri="{9D8B030D-6E8A-4147-A177-3AD203B41FA5}">
                      <a16:colId xmlns:a16="http://schemas.microsoft.com/office/drawing/2014/main" val="3671084911"/>
                    </a:ext>
                  </a:extLst>
                </a:gridCol>
                <a:gridCol w="922568">
                  <a:extLst>
                    <a:ext uri="{9D8B030D-6E8A-4147-A177-3AD203B41FA5}">
                      <a16:colId xmlns:a16="http://schemas.microsoft.com/office/drawing/2014/main" val="2212799634"/>
                    </a:ext>
                  </a:extLst>
                </a:gridCol>
                <a:gridCol w="922568">
                  <a:extLst>
                    <a:ext uri="{9D8B030D-6E8A-4147-A177-3AD203B41FA5}">
                      <a16:colId xmlns:a16="http://schemas.microsoft.com/office/drawing/2014/main" val="865863158"/>
                    </a:ext>
                  </a:extLst>
                </a:gridCol>
                <a:gridCol w="922568">
                  <a:extLst>
                    <a:ext uri="{9D8B030D-6E8A-4147-A177-3AD203B41FA5}">
                      <a16:colId xmlns:a16="http://schemas.microsoft.com/office/drawing/2014/main" val="2636572682"/>
                    </a:ext>
                  </a:extLst>
                </a:gridCol>
                <a:gridCol w="922568">
                  <a:extLst>
                    <a:ext uri="{9D8B030D-6E8A-4147-A177-3AD203B41FA5}">
                      <a16:colId xmlns:a16="http://schemas.microsoft.com/office/drawing/2014/main" val="3241482539"/>
                    </a:ext>
                  </a:extLst>
                </a:gridCol>
                <a:gridCol w="922568">
                  <a:extLst>
                    <a:ext uri="{9D8B030D-6E8A-4147-A177-3AD203B41FA5}">
                      <a16:colId xmlns:a16="http://schemas.microsoft.com/office/drawing/2014/main" val="4167958041"/>
                    </a:ext>
                  </a:extLst>
                </a:gridCol>
                <a:gridCol w="922568">
                  <a:extLst>
                    <a:ext uri="{9D8B030D-6E8A-4147-A177-3AD203B41FA5}">
                      <a16:colId xmlns:a16="http://schemas.microsoft.com/office/drawing/2014/main" val="2991173102"/>
                    </a:ext>
                  </a:extLst>
                </a:gridCol>
              </a:tblGrid>
              <a:tr h="320939">
                <a:tc>
                  <a:txBody>
                    <a:bodyPr/>
                    <a:lstStyle/>
                    <a:p>
                      <a:pPr algn="r" fontAlgn="auto"/>
                      <a:r>
                        <a:rPr lang="en-US" sz="1300" b="0" i="0" u="none" strike="noStrike">
                          <a:solidFill>
                            <a:srgbClr val="FFFFFF"/>
                          </a:solidFill>
                          <a:effectLst/>
                          <a:latin typeface="Palatino Linotype" panose="02040502050505030304" pitchFamily="18" charset="0"/>
                        </a:rPr>
                        <a:t>​</a:t>
                      </a:r>
                    </a:p>
                  </a:txBody>
                  <a:tcPr marL="87529" marR="87529" marT="43764" marB="43764" anchor="ctr">
                    <a:lnL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500" b="1" i="0" u="none" strike="noStrike">
                          <a:solidFill>
                            <a:srgbClr val="FFFFFF"/>
                          </a:solidFill>
                          <a:effectLst/>
                          <a:latin typeface="Palatino Linotype" panose="02040502050505030304" pitchFamily="18" charset="0"/>
                        </a:rPr>
                        <a:t>2021</a:t>
                      </a:r>
                      <a:r>
                        <a:rPr lang="en-US" sz="15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​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7529" marR="87529" marT="43764" marB="43764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500" b="1" i="0" u="none" strike="noStrike">
                          <a:solidFill>
                            <a:srgbClr val="FFFFFF"/>
                          </a:solidFill>
                          <a:effectLst/>
                          <a:latin typeface="Palatino Linotype" panose="02040502050505030304" pitchFamily="18" charset="0"/>
                        </a:rPr>
                        <a:t>2022</a:t>
                      </a:r>
                      <a:r>
                        <a:rPr lang="en-US" sz="15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​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7529" marR="87529" marT="43764" marB="43764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500" b="1" i="0" u="none" strike="noStrike">
                          <a:solidFill>
                            <a:srgbClr val="FFFFFF"/>
                          </a:solidFill>
                          <a:effectLst/>
                          <a:latin typeface="Palatino Linotype" panose="02040502050505030304" pitchFamily="18" charset="0"/>
                        </a:rPr>
                        <a:t>2023</a:t>
                      </a:r>
                      <a:r>
                        <a:rPr lang="en-US" sz="15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​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7529" marR="87529" marT="43764" marB="43764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500" b="1" i="0" u="none" strike="noStrike">
                          <a:solidFill>
                            <a:srgbClr val="FFFFFF"/>
                          </a:solidFill>
                          <a:effectLst/>
                          <a:latin typeface="Palatino Linotype" panose="02040502050505030304" pitchFamily="18" charset="0"/>
                        </a:rPr>
                        <a:t>2024</a:t>
                      </a:r>
                      <a:r>
                        <a:rPr lang="en-US" sz="15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​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7529" marR="87529" marT="43764" marB="43764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500" b="1" i="0" u="none" strike="noStrike">
                          <a:solidFill>
                            <a:srgbClr val="FFFFFF"/>
                          </a:solidFill>
                          <a:effectLst/>
                          <a:latin typeface="Palatino Linotype" panose="02040502050505030304" pitchFamily="18" charset="0"/>
                        </a:rPr>
                        <a:t>2025</a:t>
                      </a:r>
                      <a:r>
                        <a:rPr lang="en-US" sz="15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​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7529" marR="87529" marT="43764" marB="43764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500" b="1" i="0" u="none" strike="noStrike">
                          <a:solidFill>
                            <a:srgbClr val="FFFFFF"/>
                          </a:solidFill>
                          <a:effectLst/>
                          <a:latin typeface="Palatino Linotype" panose="02040502050505030304" pitchFamily="18" charset="0"/>
                        </a:rPr>
                        <a:t>2026E</a:t>
                      </a:r>
                      <a:r>
                        <a:rPr lang="en-US" sz="15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​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7529" marR="87529" marT="43764" marB="43764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500" b="1" i="0" u="none" strike="noStrike">
                          <a:solidFill>
                            <a:srgbClr val="FFFFFF"/>
                          </a:solidFill>
                          <a:effectLst/>
                          <a:latin typeface="Palatino Linotype" panose="02040502050505030304" pitchFamily="18" charset="0"/>
                        </a:rPr>
                        <a:t>2027E</a:t>
                      </a:r>
                      <a:r>
                        <a:rPr lang="en-US" sz="15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​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7529" marR="87529" marT="43764" marB="43764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500" b="1" i="0" u="none" strike="noStrike">
                          <a:solidFill>
                            <a:srgbClr val="FFFFFF"/>
                          </a:solidFill>
                          <a:effectLst/>
                          <a:latin typeface="Palatino Linotype" panose="02040502050505030304" pitchFamily="18" charset="0"/>
                        </a:rPr>
                        <a:t>2028E</a:t>
                      </a:r>
                      <a:r>
                        <a:rPr lang="en-US" sz="15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​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7529" marR="87529" marT="43764" marB="43764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7267171"/>
                  </a:ext>
                </a:extLst>
              </a:tr>
              <a:tr h="554348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Gross</a:t>
                      </a:r>
                    </a:p>
                    <a:p>
                      <a:pPr algn="ctr" fontAlgn="base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Margin</a:t>
                      </a:r>
                      <a:r>
                        <a:rPr lang="en-US" sz="15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​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7529" marR="87529" marT="43764" marB="43764" anchor="ctr">
                    <a:lnL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31.1%</a:t>
                      </a:r>
                      <a:r>
                        <a:rPr lang="en-US" sz="15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​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7529" marR="87529" marT="43764" marB="43764" anchor="ctr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30.0%</a:t>
                      </a:r>
                      <a:r>
                        <a:rPr lang="en-US" sz="15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​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7529" marR="87529" marT="43764" marB="43764" anchor="ctr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28.9%</a:t>
                      </a:r>
                      <a:r>
                        <a:rPr lang="en-US" sz="15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​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7529" marR="87529" marT="43764" marB="43764" anchor="ctr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33.6%</a:t>
                      </a:r>
                      <a:r>
                        <a:rPr lang="en-US" sz="15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​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7529" marR="87529" marT="43764" marB="43764" anchor="ctr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33.8%</a:t>
                      </a:r>
                      <a:r>
                        <a:rPr lang="en-US" sz="15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​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7529" marR="87529" marT="43764" marB="43764" anchor="ctr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34.1%</a:t>
                      </a:r>
                      <a:r>
                        <a:rPr lang="en-US" sz="15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​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7529" marR="87529" marT="43764" marB="43764" anchor="ctr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34.2%</a:t>
                      </a:r>
                      <a:r>
                        <a:rPr lang="en-US" sz="15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​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7529" marR="87529" marT="43764" marB="43764" anchor="ctr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34.4%</a:t>
                      </a:r>
                      <a:r>
                        <a:rPr lang="en-US" sz="15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​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7529" marR="87529" marT="43764" marB="43764" anchor="ctr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481847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6FC768ED-04CB-3AA1-27B1-ACCC8A48EF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" y="9445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itle 7">
            <a:extLst>
              <a:ext uri="{FF2B5EF4-FFF2-40B4-BE49-F238E27FC236}">
                <a16:creationId xmlns:a16="http://schemas.microsoft.com/office/drawing/2014/main" id="{8F34AAFB-6D2E-7F73-4696-1D181F870804}"/>
              </a:ext>
            </a:extLst>
          </p:cNvPr>
          <p:cNvSpPr txBox="1">
            <a:spLocks/>
          </p:cNvSpPr>
          <p:nvPr/>
        </p:nvSpPr>
        <p:spPr>
          <a:xfrm>
            <a:off x="860319" y="482702"/>
            <a:ext cx="7423357" cy="21929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1" i="0" kern="120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25" kern="0">
                <a:solidFill>
                  <a:schemeClr val="tx2">
                    <a:lumMod val="50000"/>
                    <a:lumOff val="50000"/>
                  </a:schemeClr>
                </a:solidFill>
                <a:latin typeface="Palatino Linotype" panose="02040502050505030304" pitchFamily="18" charset="0"/>
              </a:rPr>
              <a:t>Thesis Point 1:</a:t>
            </a:r>
            <a:r>
              <a:rPr lang="en-US" sz="1425" kern="0">
                <a:solidFill>
                  <a:srgbClr val="C00000"/>
                </a:solidFill>
                <a:latin typeface="Palatino Linotype" panose="02040502050505030304" pitchFamily="18" charset="0"/>
              </a:rPr>
              <a:t> </a:t>
            </a:r>
            <a:r>
              <a:rPr lang="en-US" sz="1425" kern="0">
                <a:solidFill>
                  <a:schemeClr val="tx1"/>
                </a:solidFill>
                <a:latin typeface="Palatino Linotype" panose="02040502050505030304" pitchFamily="18" charset="0"/>
              </a:rPr>
              <a:t>Margins have runway for growth beyond the realized restructuring gains.</a:t>
            </a:r>
            <a:endParaRPr lang="en-US" sz="1425" kern="0">
              <a:solidFill>
                <a:schemeClr val="tx1"/>
              </a:solidFill>
              <a:latin typeface="Palatino Linotype" panose="02040502050505030304" pitchFamily="18" charset="0"/>
              <a:ea typeface="Calibr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8DEA910-6DA2-763A-95E1-90DB54E93A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9417" y="2848543"/>
            <a:ext cx="5985162" cy="207634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29F9731-5B88-C54B-A314-9BDD265E71D4}"/>
              </a:ext>
            </a:extLst>
          </p:cNvPr>
          <p:cNvSpPr/>
          <p:nvPr/>
        </p:nvSpPr>
        <p:spPr>
          <a:xfrm>
            <a:off x="447168" y="868905"/>
            <a:ext cx="8249662" cy="37181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12700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1500" b="1">
                <a:solidFill>
                  <a:schemeClr val="bg1"/>
                </a:solidFill>
                <a:latin typeface="Palatino Linotype" panose="02040502050505030304" pitchFamily="18" charset="0"/>
              </a:rPr>
              <a:t>Pre-restructuring, NWL was worst in class for capability set among competitors.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977F3A-9CEA-FFB0-D8F8-B479F11DF334}"/>
              </a:ext>
            </a:extLst>
          </p:cNvPr>
          <p:cNvSpPr/>
          <p:nvPr/>
        </p:nvSpPr>
        <p:spPr>
          <a:xfrm>
            <a:off x="447167" y="5306542"/>
            <a:ext cx="8249662" cy="48506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12700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1500" b="1">
                <a:solidFill>
                  <a:schemeClr val="bg1"/>
                </a:solidFill>
                <a:latin typeface="Palatino Linotype" panose="02040502050505030304" pitchFamily="18" charset="0"/>
              </a:rPr>
              <a:t>Management has set a normalized GM of 37-38% and Normalized OM of 12-15% post-restructuring, driven through operating efficiencies and reduced overhead expenses.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ED6418-6426-1E84-6EB8-61F442D2A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2860" y="6596809"/>
            <a:ext cx="304223" cy="276159"/>
          </a:xfrm>
        </p:spPr>
        <p:txBody>
          <a:bodyPr/>
          <a:lstStyle/>
          <a:p>
            <a:fld id="{FD26A2CB-1AF5-41D7-B1FE-597F5196BBF2}" type="slidenum">
              <a:rPr lang="en-US" smtClean="0">
                <a:latin typeface="Palatino Linotype" panose="02040502050505030304" pitchFamily="18" charset="0"/>
              </a:rPr>
              <a:t>9</a:t>
            </a:fld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8A5086-E111-E85A-4BFC-3DB68E6CC3A5}"/>
              </a:ext>
            </a:extLst>
          </p:cNvPr>
          <p:cNvSpPr txBox="1"/>
          <p:nvPr/>
        </p:nvSpPr>
        <p:spPr>
          <a:xfrm>
            <a:off x="6268573" y="6611779"/>
            <a:ext cx="26949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>
                <a:latin typeface="Palatino Linotype" panose="02040502050505030304" pitchFamily="18" charset="0"/>
              </a:rPr>
              <a:t>Source(s): Bloomberg, FactSet, Company Filings</a:t>
            </a:r>
          </a:p>
        </p:txBody>
      </p:sp>
    </p:spTree>
    <p:extLst>
      <p:ext uri="{BB962C8B-B14F-4D97-AF65-F5344CB8AC3E}">
        <p14:creationId xmlns:p14="http://schemas.microsoft.com/office/powerpoint/2010/main" val="169304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52263-4837-722A-5B8A-078ABD445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B2AD2EC-097B-9E2E-38AF-70992BD2D532}"/>
              </a:ext>
            </a:extLst>
          </p:cNvPr>
          <p:cNvSpPr/>
          <p:nvPr/>
        </p:nvSpPr>
        <p:spPr>
          <a:xfrm>
            <a:off x="369046" y="766173"/>
            <a:ext cx="4161791" cy="257453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latin typeface="Palatino Linotype" panose="02040502050505030304" pitchFamily="18" charset="0"/>
              </a:rPr>
              <a:t>Inflection in Sales driven by Innovation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029034-C1AE-52A2-1F80-6126CD2DE714}"/>
              </a:ext>
            </a:extLst>
          </p:cNvPr>
          <p:cNvSpPr txBox="1"/>
          <p:nvPr/>
        </p:nvSpPr>
        <p:spPr>
          <a:xfrm>
            <a:off x="369047" y="1171562"/>
            <a:ext cx="4161790" cy="19697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>
                <a:latin typeface="Palatino Linotype" panose="02040502050505030304" pitchFamily="18" charset="0"/>
              </a:rPr>
              <a:t>NWL is scheduled to launch 25 Tier 1 products in FY26, up from 17 in 2025 and 8 in 2024.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>
              <a:latin typeface="Palatino Linotype" panose="0204050205050503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>
                <a:latin typeface="Palatino Linotype" panose="02040502050505030304" pitchFamily="18" charset="0"/>
              </a:rPr>
              <a:t>New launches are boosted by core products hitting their “replacement window” across all segments as products complete their lifecycle.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>
              <a:latin typeface="Palatino Linotype" panose="0204050205050503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>
                <a:latin typeface="Palatino Linotype" panose="02040502050505030304" pitchFamily="18" charset="0"/>
              </a:rPr>
              <a:t>2026 is expected to be the first positive shelf distribution year since 2016 for NWL brands.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0B9C25C-C7ED-AFE2-EF18-E9F469129A76}"/>
              </a:ext>
            </a:extLst>
          </p:cNvPr>
          <p:cNvSpPr/>
          <p:nvPr/>
        </p:nvSpPr>
        <p:spPr>
          <a:xfrm>
            <a:off x="4656013" y="763195"/>
            <a:ext cx="4118941" cy="26341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latin typeface="Palatino Linotype" panose="02040502050505030304" pitchFamily="18" charset="0"/>
              </a:rPr>
              <a:t>Improved Liquidity through FCF &amp; EBITDA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7456FD-C8A1-B2F7-486D-BECFFC4E1C57}"/>
              </a:ext>
            </a:extLst>
          </p:cNvPr>
          <p:cNvSpPr txBox="1"/>
          <p:nvPr/>
        </p:nvSpPr>
        <p:spPr>
          <a:xfrm>
            <a:off x="4624292" y="1177520"/>
            <a:ext cx="4160982" cy="19638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>
                <a:latin typeface="Palatino Linotype" panose="02040502050505030304" pitchFamily="18" charset="0"/>
              </a:rPr>
              <a:t>FCF is expected to recover through improvements in working capital and sales.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>
              <a:latin typeface="Palatino Linotype" panose="0204050205050503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>
                <a:latin typeface="Palatino Linotype" panose="02040502050505030304" pitchFamily="18" charset="0"/>
              </a:rPr>
              <a:t>S&amp;P upgraded NWL’s liquidity profile to SGL-3 on Nov. 25 to show adequate liquidity and improving conditions.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>
              <a:latin typeface="Palatino Linotype" panose="0204050205050503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>
                <a:latin typeface="Palatino Linotype" panose="02040502050505030304" pitchFamily="18" charset="0"/>
              </a:rPr>
              <a:t>EBITDA margin expected sustain growth, accelerating the deleveraging process.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5409A5-9989-7006-8299-163E76C947E3}"/>
              </a:ext>
            </a:extLst>
          </p:cNvPr>
          <p:cNvSpPr txBox="1"/>
          <p:nvPr/>
        </p:nvSpPr>
        <p:spPr>
          <a:xfrm>
            <a:off x="366257" y="3260976"/>
            <a:ext cx="8419017" cy="52322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Palatino Linotype" panose="02040502050505030304" pitchFamily="18" charset="0"/>
              </a:rPr>
              <a:t>Increasing revenues across segments should drive adjusted EBITDA margins towards 12% with leverage expected to decline to 4.3x.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91047C-B415-B1D8-EE04-BC58B33AEE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014" y="3903840"/>
            <a:ext cx="7402068" cy="270052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7" name="Title 7">
            <a:extLst>
              <a:ext uri="{FF2B5EF4-FFF2-40B4-BE49-F238E27FC236}">
                <a16:creationId xmlns:a16="http://schemas.microsoft.com/office/drawing/2014/main" id="{1C2AEBB4-AD06-4D96-41B3-E34E878AFA95}"/>
              </a:ext>
            </a:extLst>
          </p:cNvPr>
          <p:cNvSpPr txBox="1">
            <a:spLocks/>
          </p:cNvSpPr>
          <p:nvPr/>
        </p:nvSpPr>
        <p:spPr>
          <a:xfrm>
            <a:off x="827014" y="185482"/>
            <a:ext cx="7947940" cy="46166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1" i="0" kern="120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kern="0" dirty="0">
                <a:solidFill>
                  <a:schemeClr val="tx2">
                    <a:lumMod val="50000"/>
                    <a:lumOff val="50000"/>
                  </a:schemeClr>
                </a:solidFill>
                <a:latin typeface="Palatino Linotype" panose="02040502050505030304" pitchFamily="18" charset="0"/>
              </a:rPr>
              <a:t>Thesis Point 2: </a:t>
            </a:r>
            <a:r>
              <a:rPr lang="en-US" sz="1500" kern="0" dirty="0">
                <a:solidFill>
                  <a:schemeClr val="tx1"/>
                </a:solidFill>
                <a:latin typeface="Palatino Linotype" panose="02040502050505030304" pitchFamily="18" charset="0"/>
              </a:rPr>
              <a:t>NWL will accelerate their deleveraging as FCF and revenue prove to be an inflection point in FY25 and are expected to rebound through FY28.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DEE48EF8-9276-F0EE-2468-916E7B15F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2860" y="6596809"/>
            <a:ext cx="381140" cy="276159"/>
          </a:xfrm>
        </p:spPr>
        <p:txBody>
          <a:bodyPr/>
          <a:lstStyle/>
          <a:p>
            <a:fld id="{FD26A2CB-1AF5-41D7-B1FE-597F5196BBF2}" type="slidenum">
              <a:rPr lang="en-US" smtClean="0">
                <a:latin typeface="Palatino Linotype" panose="02040502050505030304" pitchFamily="18" charset="0"/>
              </a:rPr>
              <a:t>10</a:t>
            </a:fld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7DBCEA-EA45-562B-A1CD-03FCCEEF5A4E}"/>
              </a:ext>
            </a:extLst>
          </p:cNvPr>
          <p:cNvSpPr txBox="1"/>
          <p:nvPr/>
        </p:nvSpPr>
        <p:spPr>
          <a:xfrm>
            <a:off x="6268573" y="6611779"/>
            <a:ext cx="26949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>
                <a:latin typeface="Palatino Linotype" panose="02040502050505030304" pitchFamily="18" charset="0"/>
              </a:rPr>
              <a:t>Source(s): Bloomberg, FactSet, Company Filings</a:t>
            </a:r>
          </a:p>
        </p:txBody>
      </p:sp>
    </p:spTree>
    <p:extLst>
      <p:ext uri="{BB962C8B-B14F-4D97-AF65-F5344CB8AC3E}">
        <p14:creationId xmlns:p14="http://schemas.microsoft.com/office/powerpoint/2010/main" val="2401290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939D122-CDBA-12D1-6EE3-BBB0A7C65FFD}"/>
              </a:ext>
            </a:extLst>
          </p:cNvPr>
          <p:cNvSpPr/>
          <p:nvPr/>
        </p:nvSpPr>
        <p:spPr>
          <a:xfrm>
            <a:off x="599455" y="832994"/>
            <a:ext cx="2280272" cy="307778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latin typeface="Palatino Linotype" panose="02040502050505030304" pitchFamily="18" charset="0"/>
              </a:rPr>
              <a:t>Risks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AA1F99-E395-A51B-F4E6-89A024D38765}"/>
              </a:ext>
            </a:extLst>
          </p:cNvPr>
          <p:cNvSpPr/>
          <p:nvPr/>
        </p:nvSpPr>
        <p:spPr>
          <a:xfrm>
            <a:off x="3203866" y="832994"/>
            <a:ext cx="5772865" cy="307779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bg1"/>
                </a:solidFill>
                <a:latin typeface="Palatino Linotype" panose="02040502050505030304" pitchFamily="18" charset="0"/>
                <a:ea typeface="Calibri"/>
                <a:cs typeface="Calibri"/>
              </a:rPr>
              <a:t>Mitigants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9F49E1-EFFB-E9E0-181F-4C6432E96135}"/>
              </a:ext>
            </a:extLst>
          </p:cNvPr>
          <p:cNvSpPr/>
          <p:nvPr/>
        </p:nvSpPr>
        <p:spPr>
          <a:xfrm>
            <a:off x="599455" y="1447221"/>
            <a:ext cx="2280272" cy="1331870"/>
          </a:xfrm>
          <a:prstGeom prst="rect">
            <a:avLst/>
          </a:prstGeom>
          <a:solidFill>
            <a:srgbClr val="0070C0"/>
          </a:solidFill>
          <a:ln w="9525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latin typeface="Palatino Linotype" panose="02040502050505030304" pitchFamily="18" charset="0"/>
              </a:rPr>
              <a:t>Decline in Consumer Spending Stunts Recovery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3CFA39-1578-AF11-D6F3-16397A9F58AA}"/>
              </a:ext>
            </a:extLst>
          </p:cNvPr>
          <p:cNvSpPr/>
          <p:nvPr/>
        </p:nvSpPr>
        <p:spPr>
          <a:xfrm>
            <a:off x="599455" y="3085540"/>
            <a:ext cx="2280272" cy="1490697"/>
          </a:xfrm>
          <a:prstGeom prst="rect">
            <a:avLst/>
          </a:prstGeom>
          <a:solidFill>
            <a:srgbClr val="0070C0"/>
          </a:solidFill>
          <a:ln w="9525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latin typeface="Palatino Linotype" panose="02040502050505030304" pitchFamily="18" charset="0"/>
              </a:rPr>
              <a:t>Product Launches Fail, Diluting Margins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CA02EB-A793-25C0-A533-E5C2B4240A65}"/>
              </a:ext>
            </a:extLst>
          </p:cNvPr>
          <p:cNvSpPr/>
          <p:nvPr/>
        </p:nvSpPr>
        <p:spPr>
          <a:xfrm>
            <a:off x="599455" y="4882686"/>
            <a:ext cx="2280272" cy="1305963"/>
          </a:xfrm>
          <a:prstGeom prst="rect">
            <a:avLst/>
          </a:prstGeom>
          <a:solidFill>
            <a:srgbClr val="0070C0"/>
          </a:solidFill>
          <a:ln w="9525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latin typeface="Palatino Linotype" panose="02040502050505030304" pitchFamily="18" charset="0"/>
              </a:rPr>
              <a:t>Refinancing Raises Interest Costs on Unfavorable Terms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489F85-2DA7-E636-C30B-839D65C3628D}"/>
              </a:ext>
            </a:extLst>
          </p:cNvPr>
          <p:cNvSpPr/>
          <p:nvPr/>
        </p:nvSpPr>
        <p:spPr>
          <a:xfrm>
            <a:off x="2879727" y="1808356"/>
            <a:ext cx="652978" cy="6096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489F85-2DA7-E636-C30B-839D65C3628D}"/>
              </a:ext>
            </a:extLst>
          </p:cNvPr>
          <p:cNvSpPr/>
          <p:nvPr/>
        </p:nvSpPr>
        <p:spPr>
          <a:xfrm>
            <a:off x="2879727" y="3526088"/>
            <a:ext cx="652978" cy="6096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489F85-2DA7-E636-C30B-839D65C3628D}"/>
              </a:ext>
            </a:extLst>
          </p:cNvPr>
          <p:cNvSpPr/>
          <p:nvPr/>
        </p:nvSpPr>
        <p:spPr>
          <a:xfrm>
            <a:off x="2879727" y="5229321"/>
            <a:ext cx="652978" cy="6096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A12C14-9817-29F6-B8E1-8CF1CA8A4324}"/>
              </a:ext>
            </a:extLst>
          </p:cNvPr>
          <p:cNvSpPr/>
          <p:nvPr/>
        </p:nvSpPr>
        <p:spPr>
          <a:xfrm>
            <a:off x="3203864" y="1436642"/>
            <a:ext cx="5772865" cy="133187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  <a:latin typeface="Palatino Linotype"/>
                <a:ea typeface="Calibri"/>
                <a:cs typeface="Calibri"/>
              </a:rPr>
              <a:t>NWL’s “good/better/best” product tiering hedges declines in spending as consumers across all income levels have access to affordable options.</a:t>
            </a:r>
            <a:endParaRPr lang="en-US">
              <a:solidFill>
                <a:schemeClr val="tx1"/>
              </a:solidFill>
              <a:latin typeface="Palatino Linotype" panose="02040502050505030304" pitchFamily="18" charset="0"/>
              <a:ea typeface="Calibri"/>
              <a:cs typeface="Calibri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0A12C14-9817-29F6-B8E1-8CF1CA8A4324}"/>
              </a:ext>
            </a:extLst>
          </p:cNvPr>
          <p:cNvSpPr/>
          <p:nvPr/>
        </p:nvSpPr>
        <p:spPr>
          <a:xfrm>
            <a:off x="3203863" y="3078939"/>
            <a:ext cx="5772865" cy="149729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  <a:latin typeface="Palatino Linotype" panose="02040502050505030304" pitchFamily="18" charset="0"/>
                <a:ea typeface="Calibri"/>
                <a:cs typeface="Calibri"/>
              </a:rPr>
              <a:t>NWL’s tiered innovation system concentrates spending on their highest conviction bets, with 70% of Tier 1 products meeting or beating expectations since 2023.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A12C14-9817-29F6-B8E1-8CF1CA8A4324}"/>
              </a:ext>
            </a:extLst>
          </p:cNvPr>
          <p:cNvSpPr/>
          <p:nvPr/>
        </p:nvSpPr>
        <p:spPr>
          <a:xfrm>
            <a:off x="3203864" y="4882685"/>
            <a:ext cx="5772865" cy="133187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  <a:latin typeface="Palatino Linotype" panose="02040502050505030304" pitchFamily="18" charset="0"/>
                <a:ea typeface="Calibri"/>
                <a:cs typeface="Calibri"/>
              </a:rPr>
              <a:t>NWL’s 2Q25 debt issuance of $1.25B was 4x oversubscribed, signaling strong creditor demand that positions NWL to refinance at competitive rates.</a:t>
            </a:r>
          </a:p>
        </p:txBody>
      </p:sp>
      <p:sp>
        <p:nvSpPr>
          <p:cNvPr id="14" name="Title 7">
            <a:extLst>
              <a:ext uri="{FF2B5EF4-FFF2-40B4-BE49-F238E27FC236}">
                <a16:creationId xmlns:a16="http://schemas.microsoft.com/office/drawing/2014/main" id="{EE30A0B6-B201-40BC-B2F2-380559093FFF}"/>
              </a:ext>
            </a:extLst>
          </p:cNvPr>
          <p:cNvSpPr txBox="1">
            <a:spLocks/>
          </p:cNvSpPr>
          <p:nvPr/>
        </p:nvSpPr>
        <p:spPr>
          <a:xfrm>
            <a:off x="1446068" y="289604"/>
            <a:ext cx="6251864" cy="30777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1" i="0" kern="120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kern="0">
                <a:solidFill>
                  <a:schemeClr val="tx1"/>
                </a:solidFill>
                <a:latin typeface="Palatino Linotype" panose="02040502050505030304" pitchFamily="18" charset="0"/>
              </a:rPr>
              <a:t>Risks and Mitigants</a:t>
            </a:r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D3F9EBC-EED2-0170-B8C9-6A846A3E2DB4}"/>
              </a:ext>
            </a:extLst>
          </p:cNvPr>
          <p:cNvSpPr txBox="1"/>
          <p:nvPr/>
        </p:nvSpPr>
        <p:spPr>
          <a:xfrm>
            <a:off x="6268573" y="6611779"/>
            <a:ext cx="26949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>
                <a:latin typeface="Palatino Linotype" panose="02040502050505030304" pitchFamily="18" charset="0"/>
              </a:rPr>
              <a:t>Source(s): Bloomberg, FactSet, Company Filings</a:t>
            </a:r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BC44BB28-C126-B682-A070-CDCCF29EF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2860" y="6596809"/>
            <a:ext cx="381140" cy="276159"/>
          </a:xfrm>
        </p:spPr>
        <p:txBody>
          <a:bodyPr/>
          <a:lstStyle/>
          <a:p>
            <a:fld id="{FD26A2CB-1AF5-41D7-B1FE-597F5196BBF2}" type="slidenum">
              <a:rPr lang="en-US" smtClean="0">
                <a:latin typeface="Palatino Linotype" panose="02040502050505030304" pitchFamily="18" charset="0"/>
              </a:rPr>
              <a:t>11</a:t>
            </a:fld>
            <a:endParaRPr lang="en-US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25130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92D3A9-D426-DF71-3B62-44BEC088CBF7}"/>
              </a:ext>
            </a:extLst>
          </p:cNvPr>
          <p:cNvSpPr txBox="1"/>
          <p:nvPr/>
        </p:nvSpPr>
        <p:spPr>
          <a:xfrm>
            <a:off x="1431281" y="2905780"/>
            <a:ext cx="62814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>
                <a:latin typeface="Palatino Linotype" panose="02040502050505030304" pitchFamily="18" charset="0"/>
              </a:rPr>
              <a:t>Valuation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4FC59E-2BDE-10C3-AF88-FE9B5514A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2860" y="6596809"/>
            <a:ext cx="381140" cy="276159"/>
          </a:xfrm>
        </p:spPr>
        <p:txBody>
          <a:bodyPr/>
          <a:lstStyle/>
          <a:p>
            <a:fld id="{FD26A2CB-1AF5-41D7-B1FE-597F5196BBF2}" type="slidenum">
              <a:rPr lang="en-US" smtClean="0">
                <a:latin typeface="Palatino Linotype" panose="02040502050505030304" pitchFamily="18" charset="0"/>
              </a:rPr>
              <a:t>12</a:t>
            </a:fld>
            <a:endParaRPr lang="en-US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87404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B8DC7539-7B5A-FA24-9937-609AEF0EA8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8713" y="1525318"/>
            <a:ext cx="1026567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731D350-57ED-7F78-F3E1-41BDE451AA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3652390"/>
              </p:ext>
            </p:extLst>
          </p:nvPr>
        </p:nvGraphicFramePr>
        <p:xfrm>
          <a:off x="777774" y="810735"/>
          <a:ext cx="7636078" cy="5236530"/>
        </p:xfrm>
        <a:graphic>
          <a:graphicData uri="http://schemas.openxmlformats.org/drawingml/2006/table">
            <a:tbl>
              <a:tblPr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1322646">
                  <a:extLst>
                    <a:ext uri="{9D8B030D-6E8A-4147-A177-3AD203B41FA5}">
                      <a16:colId xmlns:a16="http://schemas.microsoft.com/office/drawing/2014/main" val="2716192568"/>
                    </a:ext>
                  </a:extLst>
                </a:gridCol>
                <a:gridCol w="1578358">
                  <a:extLst>
                    <a:ext uri="{9D8B030D-6E8A-4147-A177-3AD203B41FA5}">
                      <a16:colId xmlns:a16="http://schemas.microsoft.com/office/drawing/2014/main" val="2965754071"/>
                    </a:ext>
                  </a:extLst>
                </a:gridCol>
                <a:gridCol w="1578358">
                  <a:extLst>
                    <a:ext uri="{9D8B030D-6E8A-4147-A177-3AD203B41FA5}">
                      <a16:colId xmlns:a16="http://schemas.microsoft.com/office/drawing/2014/main" val="3226206468"/>
                    </a:ext>
                  </a:extLst>
                </a:gridCol>
                <a:gridCol w="1578358">
                  <a:extLst>
                    <a:ext uri="{9D8B030D-6E8A-4147-A177-3AD203B41FA5}">
                      <a16:colId xmlns:a16="http://schemas.microsoft.com/office/drawing/2014/main" val="2199452737"/>
                    </a:ext>
                  </a:extLst>
                </a:gridCol>
                <a:gridCol w="1578358">
                  <a:extLst>
                    <a:ext uri="{9D8B030D-6E8A-4147-A177-3AD203B41FA5}">
                      <a16:colId xmlns:a16="http://schemas.microsoft.com/office/drawing/2014/main" val="1912848577"/>
                    </a:ext>
                  </a:extLst>
                </a:gridCol>
              </a:tblGrid>
              <a:tr h="637083">
                <a:tc>
                  <a:txBody>
                    <a:bodyPr/>
                    <a:lstStyle/>
                    <a:p>
                      <a:pPr algn="ctr" fontAlgn="auto"/>
                      <a:r>
                        <a:rPr lang="en-US" sz="1000" b="1" i="0">
                          <a:solidFill>
                            <a:srgbClr val="FFFFFF"/>
                          </a:solidFill>
                          <a:effectLst/>
                          <a:latin typeface="Palatino Linotype" panose="02040502050505030304" pitchFamily="18" charset="0"/>
                        </a:rPr>
                        <a:t>​</a:t>
                      </a:r>
                    </a:p>
                  </a:txBody>
                  <a:tcPr marL="76339" marR="76339" marT="38170" marB="38170" anchor="ctr">
                    <a:lnL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endParaRPr lang="en-US" sz="1000" b="1" i="0">
                        <a:solidFill>
                          <a:srgbClr val="FFFFFF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  <a:p>
                      <a:pPr algn="ctr" fontAlgn="base"/>
                      <a:r>
                        <a:rPr lang="en-US" sz="1000" b="1" i="0">
                          <a:solidFill>
                            <a:srgbClr val="FFFFFF"/>
                          </a:solidFill>
                          <a:effectLst/>
                          <a:latin typeface="Palatino Linotype" panose="02040502050505030304" pitchFamily="18" charset="0"/>
                        </a:rPr>
                        <a:t>Central Garden &amp; Pet Co. (CENT)</a:t>
                      </a:r>
                    </a:p>
                    <a:p>
                      <a:pPr algn="ctr" fontAlgn="base"/>
                      <a:r>
                        <a:rPr lang="en-US" sz="1000" b="1" i="0">
                          <a:solidFill>
                            <a:srgbClr val="FFFFFF"/>
                          </a:solidFill>
                          <a:effectLst/>
                          <a:latin typeface="Palatino Linotype" panose="02040502050505030304" pitchFamily="18" charset="0"/>
                        </a:rPr>
                        <a:t>​</a:t>
                      </a:r>
                      <a:endParaRPr lang="en-US" sz="15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76339" marR="76339" marT="38170" marB="38170" anchor="ctr">
                    <a:lnL w="3175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000" b="1" i="0">
                          <a:solidFill>
                            <a:srgbClr val="FFFFFF"/>
                          </a:solidFill>
                          <a:effectLst/>
                          <a:latin typeface="Palatino Linotype" panose="02040502050505030304" pitchFamily="18" charset="0"/>
                        </a:rPr>
                        <a:t>Spectrum Brands (SPB)​</a:t>
                      </a:r>
                      <a:endParaRPr lang="en-US" sz="15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76339" marR="76339" marT="38170" marB="38170" anchor="ctr">
                    <a:lnL w="3175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000" b="1" i="0">
                          <a:solidFill>
                            <a:srgbClr val="FFFFFF"/>
                          </a:solidFill>
                          <a:effectLst/>
                          <a:latin typeface="Palatino Linotype" panose="02040502050505030304" pitchFamily="18" charset="0"/>
                        </a:rPr>
                        <a:t>Newell Brands (NWL)</a:t>
                      </a:r>
                      <a:endParaRPr lang="en-US" sz="15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76339" marR="76339" marT="38170" marB="38170" anchor="ctr">
                    <a:lnL w="28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000" b="1" i="0" err="1">
                          <a:solidFill>
                            <a:srgbClr val="FFFFFF"/>
                          </a:solidFill>
                          <a:effectLst/>
                          <a:latin typeface="Palatino Linotype" panose="02040502050505030304" pitchFamily="18" charset="0"/>
                        </a:rPr>
                        <a:t>Acco</a:t>
                      </a:r>
                      <a:r>
                        <a:rPr lang="en-US" sz="1000" b="1" i="0">
                          <a:solidFill>
                            <a:srgbClr val="FFFFFF"/>
                          </a:solidFill>
                          <a:effectLst/>
                          <a:latin typeface="Palatino Linotype" panose="02040502050505030304" pitchFamily="18" charset="0"/>
                        </a:rPr>
                        <a:t> Brands (ACCO)​</a:t>
                      </a:r>
                      <a:endParaRPr lang="en-US" sz="15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76339" marR="76339" marT="38170" marB="38170" anchor="ctr">
                    <a:lnL w="28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3253597"/>
                  </a:ext>
                </a:extLst>
              </a:tr>
              <a:tr h="455059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000" b="1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Ratings </a:t>
                      </a:r>
                    </a:p>
                    <a:p>
                      <a:pPr algn="ctr" fontAlgn="base"/>
                      <a:r>
                        <a:rPr lang="en-US" sz="1000" b="1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(Outlook)</a:t>
                      </a: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​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339" marR="76339" marT="38170" marB="38170" anchor="ctr">
                    <a:lnL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pt-BR" sz="10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B1/BB/BB ​</a:t>
                      </a:r>
                      <a:endParaRPr lang="pt-BR" sz="1500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ctr" fontAlgn="base"/>
                      <a:r>
                        <a:rPr lang="pt-BR" sz="10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(S/S/S)​</a:t>
                      </a:r>
                      <a:endParaRPr lang="pt-BR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pt-BR" sz="10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B2/B+/BB ​</a:t>
                      </a:r>
                      <a:endParaRPr lang="pt-BR" sz="1500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ctr" fontAlgn="base"/>
                      <a:r>
                        <a:rPr lang="pt-BR" sz="10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(S/S/S)​</a:t>
                      </a:r>
                      <a:endParaRPr lang="pt-BR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B2/B+/NR ​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ctr" fontAlgn="base"/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(Neg/S/NR)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339" marR="76339" marT="38170" marB="38170" anchor="ctr">
                    <a:lnL w="28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B2/B/BB- ​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ctr" fontAlgn="base"/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(S/Neg/Neg)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339" marR="76339" marT="38170" marB="3817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8361702"/>
                  </a:ext>
                </a:extLst>
              </a:tr>
              <a:tr h="455059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000" b="1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Market Cap</a:t>
                      </a: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​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339" marR="76339" marT="38170" marB="38170" anchor="ctr">
                    <a:lnL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$2.1bn​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$1.8bn​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$1.9bn​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339" marR="76339" marT="38170" marB="38170" anchor="ctr">
                    <a:lnL w="28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$364mm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339" marR="76339" marT="38170" marB="3817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3953187"/>
                  </a:ext>
                </a:extLst>
              </a:tr>
              <a:tr h="455059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000" b="1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Revenue (LTM)</a:t>
                      </a: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​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339" marR="76339" marT="38170" marB="38170" anchor="ctr">
                    <a:lnL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$3.1bn​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$2.8bn​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$7.2bn​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339" marR="76339" marT="38170" marB="3817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$1.5bn​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339" marR="76339" marT="38170" marB="3817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1765767"/>
                  </a:ext>
                </a:extLst>
              </a:tr>
              <a:tr h="455059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000" b="1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EBITDA (LTM)</a:t>
                      </a: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​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339" marR="76339" marT="38170" marB="38170" anchor="ctr">
                    <a:lnL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$337mm ​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$363mm​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$826mm ​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339" marR="76339" marT="38170" marB="3817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$197mm ​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339" marR="76339" marT="38170" marB="38170" anchor="ctr">
                    <a:lnL w="28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1549807"/>
                  </a:ext>
                </a:extLst>
              </a:tr>
              <a:tr h="455059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000" b="1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EBITDA Margin</a:t>
                      </a: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​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339" marR="76339" marT="38170" marB="38170" anchor="ctr">
                    <a:lnL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10.9%​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13.0%​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11.5%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339" marR="76339" marT="38170" marB="38170" anchor="ctr">
                    <a:lnL w="28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12.8%​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339" marR="76339" marT="38170" marB="38170" anchor="ctr">
                    <a:lnL w="28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3873093"/>
                  </a:ext>
                </a:extLst>
              </a:tr>
              <a:tr h="455059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000" b="1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EV/EBITDA</a:t>
                      </a: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​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339" marR="76339" marT="38170" marB="38170" anchor="ctr">
                    <a:lnL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​7.6x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​6.4x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7.7x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339" marR="76339" marT="38170" marB="3817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6.3x​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339" marR="76339" marT="38170" marB="38170" anchor="ctr">
                    <a:lnL w="28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8182046"/>
                  </a:ext>
                </a:extLst>
              </a:tr>
              <a:tr h="455059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000" b="1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Total Debt (LTM)</a:t>
                      </a: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​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339" marR="76339" marT="38170" marB="38170" anchor="ctr">
                    <a:lnL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$1.43bn​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$655mm​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$4.17bn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339" marR="76339" marT="38170" marB="3817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$963mm​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339" marR="76339" marT="38170" marB="38170" anchor="ctr">
                    <a:lnL w="28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6871695"/>
                  </a:ext>
                </a:extLst>
              </a:tr>
              <a:tr h="455059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000" b="1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Free Cash Flow</a:t>
                      </a: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​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339" marR="76339" marT="38170" marB="38170" anchor="ctr">
                    <a:lnL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$231mm​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$305mm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$17mm​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339" marR="76339" marT="38170" marB="38170" anchor="ctr">
                    <a:lnL w="28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$54mm​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339" marR="76339" marT="38170" marB="38170" anchor="ctr">
                    <a:lnL w="28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4795038"/>
                  </a:ext>
                </a:extLst>
              </a:tr>
              <a:tr h="455059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000" b="1" i="0">
                          <a:solidFill>
                            <a:srgbClr val="C00000"/>
                          </a:solidFill>
                          <a:effectLst/>
                          <a:latin typeface="Palatino Linotype" panose="02040502050505030304" pitchFamily="18" charset="0"/>
                        </a:rPr>
                        <a:t>Total Debt/EBITDA</a:t>
                      </a: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​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339" marR="76339" marT="38170" marB="38170" anchor="ctr">
                    <a:lnL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000" b="0" i="0">
                          <a:solidFill>
                            <a:srgbClr val="C00000"/>
                          </a:solidFill>
                          <a:effectLst/>
                          <a:latin typeface="Palatino Linotype" panose="02040502050505030304" pitchFamily="18" charset="0"/>
                        </a:rPr>
                        <a:t>6.9x</a:t>
                      </a: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​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000" b="0" i="0">
                          <a:solidFill>
                            <a:srgbClr val="C00000"/>
                          </a:solidFill>
                          <a:effectLst/>
                          <a:latin typeface="Palatino Linotype" panose="02040502050505030304" pitchFamily="18" charset="0"/>
                        </a:rPr>
                        <a:t>1.8x</a:t>
                      </a: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​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000" b="1" i="0">
                          <a:solidFill>
                            <a:srgbClr val="C00000"/>
                          </a:solidFill>
                          <a:effectLst/>
                          <a:latin typeface="Palatino Linotype" panose="02040502050505030304" pitchFamily="18" charset="0"/>
                        </a:rPr>
                        <a:t>5.7x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339" marR="76339" marT="38170" marB="3817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000" b="0" i="0">
                          <a:solidFill>
                            <a:srgbClr val="C00000"/>
                          </a:solidFill>
                          <a:effectLst/>
                          <a:latin typeface="Palatino Linotype" panose="02040502050505030304" pitchFamily="18" charset="0"/>
                        </a:rPr>
                        <a:t>4.9x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339" marR="76339" marT="38170" marB="3817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739080"/>
                  </a:ext>
                </a:extLst>
              </a:tr>
              <a:tr h="455059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000" b="1" i="0">
                          <a:solidFill>
                            <a:srgbClr val="C00000"/>
                          </a:solidFill>
                          <a:effectLst/>
                          <a:latin typeface="Palatino Linotype" panose="02040502050505030304" pitchFamily="18" charset="0"/>
                        </a:rPr>
                        <a:t>Net Debt/EBITDA</a:t>
                      </a: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​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339" marR="76339" marT="38170" marB="38170" anchor="ctr">
                    <a:lnL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000" b="0" i="0">
                          <a:solidFill>
                            <a:srgbClr val="C00000"/>
                          </a:solidFill>
                          <a:effectLst/>
                          <a:latin typeface="Palatino Linotype" panose="02040502050505030304" pitchFamily="18" charset="0"/>
                        </a:rPr>
                        <a:t>6.4x</a:t>
                      </a: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​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000" b="0" i="0">
                          <a:solidFill>
                            <a:srgbClr val="C00000"/>
                          </a:solidFill>
                          <a:effectLst/>
                          <a:latin typeface="Palatino Linotype" panose="02040502050505030304" pitchFamily="18" charset="0"/>
                        </a:rPr>
                        <a:t>1.5x</a:t>
                      </a: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​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000" b="1" i="0">
                          <a:solidFill>
                            <a:srgbClr val="C00000"/>
                          </a:solidFill>
                          <a:effectLst/>
                          <a:latin typeface="Palatino Linotype" panose="02040502050505030304" pitchFamily="18" charset="0"/>
                        </a:rPr>
                        <a:t>5.5x</a:t>
                      </a: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​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339" marR="76339" marT="38170" marB="3817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000" b="0" i="0">
                          <a:solidFill>
                            <a:srgbClr val="C00000"/>
                          </a:solidFill>
                          <a:effectLst/>
                          <a:latin typeface="Palatino Linotype" panose="02040502050505030304" pitchFamily="18" charset="0"/>
                        </a:rPr>
                        <a:t>4.5x</a:t>
                      </a: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​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339" marR="76339" marT="38170" marB="3817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1189498"/>
                  </a:ext>
                </a:extLst>
              </a:tr>
            </a:tbl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26674BE3-5D2C-8728-3CC9-FCE1872393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8713" y="18256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E074207-FA50-73CA-D470-661DA82EFAA6}"/>
              </a:ext>
            </a:extLst>
          </p:cNvPr>
          <p:cNvSpPr txBox="1">
            <a:spLocks/>
          </p:cNvSpPr>
          <p:nvPr/>
        </p:nvSpPr>
        <p:spPr>
          <a:xfrm>
            <a:off x="969324" y="246221"/>
            <a:ext cx="7252978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1" i="0" kern="120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kern="0">
                <a:solidFill>
                  <a:schemeClr val="tx1"/>
                </a:solidFill>
                <a:latin typeface="Palatino Linotype" panose="02040502050505030304" pitchFamily="18" charset="0"/>
              </a:rPr>
              <a:t>Newell Brands Credit Profile vs. Industry Peers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D24A0F20-8EDF-43C0-FF1E-2E442C85C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2860" y="6596809"/>
            <a:ext cx="381140" cy="276159"/>
          </a:xfrm>
        </p:spPr>
        <p:txBody>
          <a:bodyPr/>
          <a:lstStyle/>
          <a:p>
            <a:fld id="{FD26A2CB-1AF5-41D7-B1FE-597F5196BBF2}" type="slidenum">
              <a:rPr lang="en-US" smtClean="0">
                <a:latin typeface="Palatino Linotype" panose="02040502050505030304" pitchFamily="18" charset="0"/>
              </a:rPr>
              <a:t>13</a:t>
            </a:fld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8ED203-A8DF-D40C-4244-0274C44951F6}"/>
              </a:ext>
            </a:extLst>
          </p:cNvPr>
          <p:cNvSpPr txBox="1"/>
          <p:nvPr/>
        </p:nvSpPr>
        <p:spPr>
          <a:xfrm>
            <a:off x="6268573" y="6611779"/>
            <a:ext cx="26949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>
                <a:latin typeface="Palatino Linotype" panose="02040502050505030304" pitchFamily="18" charset="0"/>
              </a:rPr>
              <a:t>Source(s): Bloomberg, FactSet, Company Filings</a:t>
            </a:r>
          </a:p>
        </p:txBody>
      </p:sp>
    </p:spTree>
    <p:extLst>
      <p:ext uri="{BB962C8B-B14F-4D97-AF65-F5344CB8AC3E}">
        <p14:creationId xmlns:p14="http://schemas.microsoft.com/office/powerpoint/2010/main" val="33611670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2135691-373F-B6EC-E1CF-D1FCBEF4CAB1}"/>
              </a:ext>
            </a:extLst>
          </p:cNvPr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81119695"/>
              </p:ext>
            </p:extLst>
          </p:nvPr>
        </p:nvGraphicFramePr>
        <p:xfrm>
          <a:off x="441433" y="1392426"/>
          <a:ext cx="8073916" cy="4472347"/>
        </p:xfrm>
        <a:graphic>
          <a:graphicData uri="http://schemas.openxmlformats.org/drawingml/2006/table">
            <a:tbl>
              <a:tblPr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1049888">
                  <a:extLst>
                    <a:ext uri="{9D8B030D-6E8A-4147-A177-3AD203B41FA5}">
                      <a16:colId xmlns:a16="http://schemas.microsoft.com/office/drawing/2014/main" val="4149013085"/>
                    </a:ext>
                  </a:extLst>
                </a:gridCol>
                <a:gridCol w="1756007">
                  <a:extLst>
                    <a:ext uri="{9D8B030D-6E8A-4147-A177-3AD203B41FA5}">
                      <a16:colId xmlns:a16="http://schemas.microsoft.com/office/drawing/2014/main" val="3258887591"/>
                    </a:ext>
                  </a:extLst>
                </a:gridCol>
                <a:gridCol w="1756007">
                  <a:extLst>
                    <a:ext uri="{9D8B030D-6E8A-4147-A177-3AD203B41FA5}">
                      <a16:colId xmlns:a16="http://schemas.microsoft.com/office/drawing/2014/main" val="1089690301"/>
                    </a:ext>
                  </a:extLst>
                </a:gridCol>
                <a:gridCol w="1756007">
                  <a:extLst>
                    <a:ext uri="{9D8B030D-6E8A-4147-A177-3AD203B41FA5}">
                      <a16:colId xmlns:a16="http://schemas.microsoft.com/office/drawing/2014/main" val="1869711192"/>
                    </a:ext>
                  </a:extLst>
                </a:gridCol>
                <a:gridCol w="1756007">
                  <a:extLst>
                    <a:ext uri="{9D8B030D-6E8A-4147-A177-3AD203B41FA5}">
                      <a16:colId xmlns:a16="http://schemas.microsoft.com/office/drawing/2014/main" val="3156851427"/>
                    </a:ext>
                  </a:extLst>
                </a:gridCol>
              </a:tblGrid>
              <a:tr h="521253">
                <a:tc>
                  <a:txBody>
                    <a:bodyPr/>
                    <a:lstStyle/>
                    <a:p>
                      <a:pPr algn="ctr" fontAlgn="auto"/>
                      <a:r>
                        <a:rPr lang="en-US" sz="1100" b="1" i="0">
                          <a:solidFill>
                            <a:srgbClr val="FFFFFF"/>
                          </a:solidFill>
                          <a:effectLst/>
                          <a:latin typeface="Palatino Linotype" panose="02040502050505030304" pitchFamily="18" charset="0"/>
                        </a:rPr>
                        <a:t>​</a:t>
                      </a:r>
                    </a:p>
                  </a:txBody>
                  <a:tcPr marL="87126" marR="87126" marT="43563" marB="43563" anchor="ctr">
                    <a:lnL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 b="1" i="0">
                          <a:solidFill>
                            <a:srgbClr val="FFFFFF"/>
                          </a:solidFill>
                          <a:effectLst/>
                          <a:latin typeface="Palatino Linotype" panose="02040502050505030304" pitchFamily="18" charset="0"/>
                        </a:rPr>
                        <a:t>CENT 4.125% 10/15/2030</a:t>
                      </a:r>
                      <a:endParaRPr lang="en-US" sz="17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87126" marR="87126" marT="43563" marB="43563" anchor="ctr">
                    <a:lnL w="3175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 b="1" i="0">
                          <a:solidFill>
                            <a:srgbClr val="FFFFFF"/>
                          </a:solidFill>
                          <a:effectLst/>
                          <a:latin typeface="Palatino Linotype" panose="02040502050505030304" pitchFamily="18" charset="0"/>
                        </a:rPr>
                        <a:t>SPB 3.875% 3/15/2031</a:t>
                      </a:r>
                      <a:endParaRPr lang="en-US" sz="17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87126" marR="87126" marT="43563" marB="43563" anchor="ctr">
                    <a:lnL w="3175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 b="1" i="0">
                          <a:solidFill>
                            <a:srgbClr val="FFFFFF"/>
                          </a:solidFill>
                          <a:effectLst/>
                          <a:latin typeface="Palatino Linotype" panose="02040502050505030304" pitchFamily="18" charset="0"/>
                        </a:rPr>
                        <a:t>NWL 6.375% 5/15/2030​</a:t>
                      </a:r>
                      <a:endParaRPr lang="en-US" sz="17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87126" marR="87126" marT="43563" marB="43563" anchor="ctr">
                    <a:lnL w="28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 b="1" i="0">
                          <a:solidFill>
                            <a:srgbClr val="FFFFFF"/>
                          </a:solidFill>
                          <a:effectLst/>
                          <a:latin typeface="Palatino Linotype" panose="02040502050505030304" pitchFamily="18" charset="0"/>
                        </a:rPr>
                        <a:t>ACCO 4.25% 3/15/2029​</a:t>
                      </a:r>
                      <a:endParaRPr lang="en-US" sz="17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87126" marR="87126" marT="43563" marB="43563" anchor="ctr">
                    <a:lnL w="28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0652811"/>
                  </a:ext>
                </a:extLst>
              </a:tr>
              <a:tr h="500403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Ratings</a:t>
                      </a:r>
                    </a:p>
                    <a:p>
                      <a:pPr algn="ctr" fontAlgn="base"/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(Outlook)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​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7126" marR="87126" marT="43563" marB="43563" anchor="ctr">
                    <a:lnL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pt-BR" sz="11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B1/BB/BB</a:t>
                      </a:r>
                    </a:p>
                    <a:p>
                      <a:pPr algn="ctr" fontAlgn="base"/>
                      <a:r>
                        <a:rPr lang="pt-BR" sz="11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(S/S/S)</a:t>
                      </a:r>
                      <a:endParaRPr lang="pt-BR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7126" marR="87126" marT="43563" marB="43563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pt-BR" sz="11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B2/B+/BB</a:t>
                      </a:r>
                    </a:p>
                    <a:p>
                      <a:pPr algn="ctr" fontAlgn="base"/>
                      <a:r>
                        <a:rPr lang="pt-BR" sz="11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(S/S/S)​</a:t>
                      </a:r>
                      <a:endParaRPr lang="pt-BR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7126" marR="87126" marT="43563" marB="43563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B2/B+/NR ​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ctr" fontAlgn="base"/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(Neg/S/NR)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7126" marR="87126" marT="43563" marB="43563" anchor="ctr">
                    <a:lnL w="28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B2/B/BB- ​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ctr" fontAlgn="base"/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(S/Neg/Neg)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7126" marR="87126" marT="43563" marB="43563" anchor="ctr">
                    <a:lnL w="28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5600777"/>
                  </a:ext>
                </a:extLst>
              </a:tr>
              <a:tr h="489977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Rank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​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7126" marR="87126" marT="43563" marB="43563" anchor="ctr">
                    <a:lnL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Sr. Unsecured​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7126" marR="87126" marT="43563" marB="43563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Sr. Unsecured​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7126" marR="87126" marT="43563" marB="43563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Sr. Unsecured​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7126" marR="87126" marT="43563" marB="43563" anchor="ctr">
                    <a:lnL w="28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Sr. Unsecured​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7126" marR="87126" marT="43563" marB="43563" anchor="ctr">
                    <a:lnL w="28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5454055"/>
                  </a:ext>
                </a:extLst>
              </a:tr>
              <a:tr h="489977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Price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​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7126" marR="87126" marT="43563" marB="43563" anchor="ctr">
                    <a:lnL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95.77​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7126" marR="87126" marT="43563" marB="43563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87.41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7126" marR="87126" marT="43563" marB="43563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97.59</a:t>
                      </a:r>
                      <a:endParaRPr lang="en-US" sz="17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7126" marR="87126" marT="43563" marB="43563" anchor="ctr">
                    <a:lnL w="28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91.8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7126" marR="87126" marT="43563" marB="43563" anchor="ctr">
                    <a:lnL w="28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5206965"/>
                  </a:ext>
                </a:extLst>
              </a:tr>
              <a:tr h="500403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Amount </a:t>
                      </a:r>
                    </a:p>
                    <a:p>
                      <a:pPr algn="ctr" fontAlgn="base"/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Outstanding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​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7126" marR="87126" marT="43563" marB="43563" anchor="ctr">
                    <a:lnL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500mm​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7126" marR="87126" marT="43563" marB="43563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128mnm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7126" marR="87126" marT="43563" marB="43563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750mm​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7126" marR="87126" marT="43563" marB="43563" anchor="ctr">
                    <a:lnL w="28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575mm ​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7126" marR="87126" marT="43563" marB="43563" anchor="ctr">
                    <a:lnL w="28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9208062"/>
                  </a:ext>
                </a:extLst>
              </a:tr>
              <a:tr h="500403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Modified </a:t>
                      </a:r>
                    </a:p>
                    <a:p>
                      <a:pPr algn="ctr" fontAlgn="base"/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Duration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​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7126" marR="87126" marT="43563" marB="43563" anchor="ctr">
                    <a:lnL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4.05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7126" marR="87126" marT="43563" marB="43563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4.32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7126" marR="87126" marT="43563" marB="43563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3.51</a:t>
                      </a:r>
                      <a:endParaRPr lang="en-US" sz="17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7126" marR="87126" marT="43563" marB="43563" anchor="ctr">
                    <a:lnL w="28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2.69​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7126" marR="87126" marT="43563" marB="43563" anchor="ctr">
                    <a:lnL w="28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7577036"/>
                  </a:ext>
                </a:extLst>
              </a:tr>
              <a:tr h="489977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YTW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​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7126" marR="87126" marT="43563" marB="43563" anchor="ctr">
                    <a:lnL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5.17%​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7126" marR="87126" marT="43563" marB="43563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6.89%​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7126" marR="87126" marT="43563" marB="43563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7.05%​</a:t>
                      </a:r>
                      <a:endParaRPr lang="en-US" sz="17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7126" marR="87126" marT="43563" marB="43563" anchor="ctr">
                    <a:lnL w="28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7.33%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7126" marR="87126" marT="43563" marB="43563" anchor="ctr">
                    <a:lnL w="28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8911873"/>
                  </a:ext>
                </a:extLst>
              </a:tr>
              <a:tr h="489977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OAS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​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7126" marR="87126" marT="43563" marB="43563" anchor="ctr">
                    <a:lnL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140 bps​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7126" marR="87126" marT="43563" marB="43563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316 bps​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7126" marR="87126" marT="43563" marB="43563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317 bps​</a:t>
                      </a:r>
                      <a:endParaRPr lang="en-US" sz="17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7126" marR="87126" marT="43563" marB="43563" anchor="ctr">
                    <a:lnL w="28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374 bps​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7126" marR="87126" marT="43563" marB="43563" anchor="ctr">
                    <a:lnL w="28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6888722"/>
                  </a:ext>
                </a:extLst>
              </a:tr>
              <a:tr h="489977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5Y CDS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​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7126" marR="87126" marT="43563" marB="43563" anchor="ctr">
                    <a:lnL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N/A​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7126" marR="87126" marT="43563" marB="43563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NA​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7126" marR="87126" marT="43563" marB="43563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321 bps​</a:t>
                      </a:r>
                      <a:endParaRPr lang="en-US" sz="17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7126" marR="87126" marT="43563" marB="43563" anchor="ctr">
                    <a:lnL w="28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NA​</a:t>
                      </a:r>
                      <a:endParaRPr lang="en-US" sz="17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7126" marR="87126" marT="43563" marB="43563" anchor="ctr">
                    <a:lnL w="28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8733963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1E8C8A2F-186A-5003-4C3C-2F2C770B41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588" y="1091766"/>
            <a:ext cx="936106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itle 7">
            <a:extLst>
              <a:ext uri="{FF2B5EF4-FFF2-40B4-BE49-F238E27FC236}">
                <a16:creationId xmlns:a16="http://schemas.microsoft.com/office/drawing/2014/main" id="{29CAAE0D-6CAB-27D3-1B0A-21BD9206E9D4}"/>
              </a:ext>
            </a:extLst>
          </p:cNvPr>
          <p:cNvSpPr txBox="1">
            <a:spLocks/>
          </p:cNvSpPr>
          <p:nvPr/>
        </p:nvSpPr>
        <p:spPr>
          <a:xfrm>
            <a:off x="2129146" y="711146"/>
            <a:ext cx="4885707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1" i="0" kern="120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kern="0">
                <a:solidFill>
                  <a:schemeClr val="tx1"/>
                </a:solidFill>
                <a:latin typeface="Palatino Linotype" panose="02040502050505030304" pitchFamily="18" charset="0"/>
              </a:rPr>
              <a:t>Comparable Bonds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67C6224E-3AD1-CC48-9320-B58FC5B26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2860" y="6596809"/>
            <a:ext cx="381140" cy="276159"/>
          </a:xfrm>
        </p:spPr>
        <p:txBody>
          <a:bodyPr/>
          <a:lstStyle/>
          <a:p>
            <a:fld id="{FD26A2CB-1AF5-41D7-B1FE-597F5196BBF2}" type="slidenum">
              <a:rPr lang="en-US" smtClean="0">
                <a:latin typeface="Palatino Linotype" panose="02040502050505030304" pitchFamily="18" charset="0"/>
              </a:rPr>
              <a:t>14</a:t>
            </a:fld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6FEE2B-6D7D-6CF7-ED54-FCA125845242}"/>
              </a:ext>
            </a:extLst>
          </p:cNvPr>
          <p:cNvSpPr txBox="1"/>
          <p:nvPr/>
        </p:nvSpPr>
        <p:spPr>
          <a:xfrm>
            <a:off x="6268573" y="6611779"/>
            <a:ext cx="26949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>
                <a:latin typeface="Palatino Linotype" panose="02040502050505030304" pitchFamily="18" charset="0"/>
              </a:rPr>
              <a:t>Source(s): Bloomberg, FactSet, Company Filings</a:t>
            </a:r>
          </a:p>
        </p:txBody>
      </p:sp>
    </p:spTree>
    <p:extLst>
      <p:ext uri="{BB962C8B-B14F-4D97-AF65-F5344CB8AC3E}">
        <p14:creationId xmlns:p14="http://schemas.microsoft.com/office/powerpoint/2010/main" val="26008964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E27EE36-C338-AC3C-4FF2-34A783657927}"/>
              </a:ext>
            </a:extLst>
          </p:cNvPr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98298373"/>
              </p:ext>
            </p:extLst>
          </p:nvPr>
        </p:nvGraphicFramePr>
        <p:xfrm>
          <a:off x="657225" y="1233027"/>
          <a:ext cx="7886700" cy="1364583"/>
        </p:xfrm>
        <a:graphic>
          <a:graphicData uri="http://schemas.openxmlformats.org/drawingml/2006/table">
            <a:tbl>
              <a:tblPr/>
              <a:tblGrid>
                <a:gridCol w="1311393">
                  <a:extLst>
                    <a:ext uri="{9D8B030D-6E8A-4147-A177-3AD203B41FA5}">
                      <a16:colId xmlns:a16="http://schemas.microsoft.com/office/drawing/2014/main" val="3056887433"/>
                    </a:ext>
                  </a:extLst>
                </a:gridCol>
                <a:gridCol w="2191769">
                  <a:extLst>
                    <a:ext uri="{9D8B030D-6E8A-4147-A177-3AD203B41FA5}">
                      <a16:colId xmlns:a16="http://schemas.microsoft.com/office/drawing/2014/main" val="3426856977"/>
                    </a:ext>
                  </a:extLst>
                </a:gridCol>
                <a:gridCol w="2191769">
                  <a:extLst>
                    <a:ext uri="{9D8B030D-6E8A-4147-A177-3AD203B41FA5}">
                      <a16:colId xmlns:a16="http://schemas.microsoft.com/office/drawing/2014/main" val="2436698153"/>
                    </a:ext>
                  </a:extLst>
                </a:gridCol>
                <a:gridCol w="2191769">
                  <a:extLst>
                    <a:ext uri="{9D8B030D-6E8A-4147-A177-3AD203B41FA5}">
                      <a16:colId xmlns:a16="http://schemas.microsoft.com/office/drawing/2014/main" val="3641771577"/>
                    </a:ext>
                  </a:extLst>
                </a:gridCol>
              </a:tblGrid>
              <a:tr h="302629">
                <a:tc>
                  <a:txBody>
                    <a:bodyPr/>
                    <a:lstStyle/>
                    <a:p>
                      <a:pPr algn="ctr" fontAlgn="auto"/>
                      <a:r>
                        <a:rPr lang="en-US" sz="1300" b="1" i="0">
                          <a:solidFill>
                            <a:srgbClr val="FFFFFF"/>
                          </a:solidFill>
                          <a:effectLst/>
                          <a:latin typeface="Palatino Linotype" panose="02040502050505030304" pitchFamily="18" charset="0"/>
                        </a:rPr>
                        <a:t>​</a:t>
                      </a:r>
                    </a:p>
                  </a:txBody>
                  <a:tcPr marL="88038" marR="88038" marT="44019" marB="44019" anchor="ctr">
                    <a:lnL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300" b="1" i="0">
                          <a:solidFill>
                            <a:srgbClr val="FFFFFF"/>
                          </a:solidFill>
                          <a:effectLst/>
                          <a:latin typeface="Palatino Linotype" panose="02040502050505030304" pitchFamily="18" charset="0"/>
                        </a:rPr>
                        <a:t>Bull​</a:t>
                      </a:r>
                      <a:endParaRPr lang="en-US" sz="17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88038" marR="88038" marT="44019" marB="4401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300" b="1" i="0">
                          <a:solidFill>
                            <a:srgbClr val="FFFFFF"/>
                          </a:solidFill>
                          <a:effectLst/>
                          <a:latin typeface="Palatino Linotype" panose="02040502050505030304" pitchFamily="18" charset="0"/>
                        </a:rPr>
                        <a:t>Base​</a:t>
                      </a:r>
                      <a:endParaRPr lang="en-US" sz="17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88038" marR="88038" marT="44019" marB="4401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300" b="1" i="0">
                          <a:solidFill>
                            <a:srgbClr val="FFFFFF"/>
                          </a:solidFill>
                          <a:effectLst/>
                          <a:latin typeface="Palatino Linotype" panose="02040502050505030304" pitchFamily="18" charset="0"/>
                        </a:rPr>
                        <a:t>Bear​</a:t>
                      </a:r>
                      <a:endParaRPr lang="en-US" sz="17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88038" marR="88038" marT="44019" marB="4401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8584417"/>
                  </a:ext>
                </a:extLst>
              </a:tr>
              <a:tr h="357653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300" b="1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∆OAS</a:t>
                      </a:r>
                      <a:r>
                        <a:rPr lang="en-US" sz="13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​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8038" marR="88038" marT="44019" marB="44019" anchor="ctr">
                    <a:lnL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300" b="0" i="0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- 60 bps​</a:t>
                      </a:r>
                      <a:endParaRPr lang="en-US" sz="17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8038" marR="88038" marT="44019" marB="4401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4C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300" b="0" i="0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- 25 bps​</a:t>
                      </a:r>
                      <a:endParaRPr lang="en-US" sz="17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8038" marR="88038" marT="44019" marB="4401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3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+ 20 bps​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8038" marR="88038" marT="44019" marB="4401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D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9582922"/>
                  </a:ext>
                </a:extLst>
              </a:tr>
              <a:tr h="704301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300" b="1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1Y HPR </a:t>
                      </a:r>
                    </a:p>
                    <a:p>
                      <a:pPr algn="ctr" fontAlgn="base"/>
                      <a:r>
                        <a:rPr lang="en-US" sz="1300" b="1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(Annualized)</a:t>
                      </a:r>
                      <a:r>
                        <a:rPr lang="en-US" sz="13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​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8038" marR="88038" marT="44019" marB="44019" anchor="ctr">
                    <a:lnL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300" b="1" i="0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8.78%</a:t>
                      </a:r>
                      <a:r>
                        <a:rPr lang="en-US" sz="1300" b="0" i="0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​</a:t>
                      </a:r>
                      <a:endParaRPr lang="en-US" sz="17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8038" marR="88038" marT="44019" marB="4401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4C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300" b="1" i="0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7.83%</a:t>
                      </a:r>
                      <a:r>
                        <a:rPr lang="en-US" sz="1300" b="0" i="0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​</a:t>
                      </a:r>
                      <a:endParaRPr lang="en-US" sz="17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8038" marR="88038" marT="44019" marB="4401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300" b="1" i="0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6.63%</a:t>
                      </a:r>
                      <a:r>
                        <a:rPr lang="en-US" sz="1300" b="0" i="0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​</a:t>
                      </a:r>
                      <a:endParaRPr lang="en-US" sz="17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8038" marR="88038" marT="44019" marB="4401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D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2577190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E1C5E22B-4F4A-762D-6915-4F2B5240F6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225" y="13858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itle 7">
            <a:extLst>
              <a:ext uri="{FF2B5EF4-FFF2-40B4-BE49-F238E27FC236}">
                <a16:creationId xmlns:a16="http://schemas.microsoft.com/office/drawing/2014/main" id="{8A4C218A-682E-166D-A61B-CAFC2F80ABF2}"/>
              </a:ext>
            </a:extLst>
          </p:cNvPr>
          <p:cNvSpPr txBox="1">
            <a:spLocks/>
          </p:cNvSpPr>
          <p:nvPr/>
        </p:nvSpPr>
        <p:spPr>
          <a:xfrm>
            <a:off x="1912298" y="386128"/>
            <a:ext cx="5376553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1" i="0" kern="120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kern="0">
                <a:solidFill>
                  <a:schemeClr val="tx1"/>
                </a:solidFill>
                <a:latin typeface="Palatino Linotype" panose="02040502050505030304" pitchFamily="18" charset="0"/>
              </a:rPr>
              <a:t>NWL 30s Offer an Attractive 1Y Holding Period Return With a Skew to Upside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7338B83D-2532-782E-AEA6-527413B38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2860" y="6596809"/>
            <a:ext cx="381140" cy="276159"/>
          </a:xfrm>
        </p:spPr>
        <p:txBody>
          <a:bodyPr/>
          <a:lstStyle/>
          <a:p>
            <a:fld id="{FD26A2CB-1AF5-41D7-B1FE-597F5196BBF2}" type="slidenum">
              <a:rPr lang="en-US" smtClean="0">
                <a:latin typeface="Palatino Linotype" panose="02040502050505030304" pitchFamily="18" charset="0"/>
              </a:rPr>
              <a:t>15</a:t>
            </a:fld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0314BF-E244-CEB7-0BDF-899EC0D8EC65}"/>
              </a:ext>
            </a:extLst>
          </p:cNvPr>
          <p:cNvSpPr txBox="1"/>
          <p:nvPr/>
        </p:nvSpPr>
        <p:spPr>
          <a:xfrm>
            <a:off x="6268573" y="6611779"/>
            <a:ext cx="26949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>
                <a:latin typeface="Palatino Linotype" panose="02040502050505030304" pitchFamily="18" charset="0"/>
              </a:rPr>
              <a:t>Source(s): Bloomberg, FactSet, Company Filings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DD5363-24BA-7728-6C91-619A00A75D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5983" y="2828956"/>
            <a:ext cx="3989182" cy="3704631"/>
          </a:xfrm>
          <a:prstGeom prst="rect">
            <a:avLst/>
          </a:prstGeom>
          <a:ln w="1270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685819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F8B9592-1F55-EECB-7907-59160F44E2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8570793"/>
              </p:ext>
            </p:extLst>
          </p:nvPr>
        </p:nvGraphicFramePr>
        <p:xfrm>
          <a:off x="4967067" y="926306"/>
          <a:ext cx="3922295" cy="2788941"/>
        </p:xfrm>
        <a:graphic>
          <a:graphicData uri="http://schemas.openxmlformats.org/drawingml/2006/table">
            <a:tbl>
              <a:tblPr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173941">
                  <a:extLst>
                    <a:ext uri="{9D8B030D-6E8A-4147-A177-3AD203B41FA5}">
                      <a16:colId xmlns:a16="http://schemas.microsoft.com/office/drawing/2014/main" val="935424687"/>
                    </a:ext>
                  </a:extLst>
                </a:gridCol>
                <a:gridCol w="1748354">
                  <a:extLst>
                    <a:ext uri="{9D8B030D-6E8A-4147-A177-3AD203B41FA5}">
                      <a16:colId xmlns:a16="http://schemas.microsoft.com/office/drawing/2014/main" val="3314869410"/>
                    </a:ext>
                  </a:extLst>
                </a:gridCol>
              </a:tblGrid>
              <a:tr h="567708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>
                          <a:solidFill>
                            <a:schemeClr val="bg1"/>
                          </a:solidFill>
                          <a:effectLst/>
                          <a:latin typeface="Palatino Linotype" panose="02040502050505030304" pitchFamily="18" charset="0"/>
                        </a:rPr>
                        <a:t>Bond Info</a:t>
                      </a:r>
                      <a:endParaRPr lang="en-US" sz="1800" b="1" i="0" u="none" strike="noStrike">
                        <a:solidFill>
                          <a:schemeClr val="bg1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2195644"/>
                  </a:ext>
                </a:extLst>
              </a:tr>
              <a:tr h="44926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Palatino Linotype" panose="02040502050505030304" pitchFamily="18" charset="0"/>
                        </a:rPr>
                        <a:t>Moody’s/S&amp;P/Fitch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 dirty="0">
                          <a:effectLst/>
                          <a:latin typeface="Palatino Linotype" panose="02040502050505030304" pitchFamily="18" charset="0"/>
                        </a:rPr>
                        <a:t>B2 (N)/B+ (S)/NR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0" marR="0" marT="0" marB="0"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710262"/>
                  </a:ext>
                </a:extLst>
              </a:tr>
              <a:tr h="35070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Palatino Linotype" panose="02040502050505030304" pitchFamily="18" charset="0"/>
                        </a:rPr>
                        <a:t>Issue Size ($M)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Palatino Linotype" panose="02040502050505030304" pitchFamily="18" charset="0"/>
                        </a:rPr>
                        <a:t>$750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0" marR="0" marT="0" marB="0"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1858217"/>
                  </a:ext>
                </a:extLst>
              </a:tr>
              <a:tr h="35070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Palatino Linotype" panose="02040502050505030304" pitchFamily="18" charset="0"/>
                        </a:rPr>
                        <a:t>OAS (bps)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317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4760830"/>
                  </a:ext>
                </a:extLst>
              </a:tr>
              <a:tr h="35070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Palatino Linotype" panose="02040502050505030304" pitchFamily="18" charset="0"/>
                        </a:rPr>
                        <a:t>YTW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 dirty="0">
                          <a:effectLst/>
                          <a:latin typeface="Palatino Linotype" panose="02040502050505030304" pitchFamily="18" charset="0"/>
                        </a:rPr>
                        <a:t>7.05%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0" marR="0" marT="0" marB="0"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27224"/>
                  </a:ext>
                </a:extLst>
              </a:tr>
              <a:tr h="35070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Palatino Linotype" panose="02040502050505030304" pitchFamily="18" charset="0"/>
                        </a:rPr>
                        <a:t>Convexity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Palatino Linotype" panose="02040502050505030304" pitchFamily="18" charset="0"/>
                        </a:rPr>
                        <a:t>0.15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0" marR="0" marT="0" marB="0"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3865659"/>
                  </a:ext>
                </a:extLst>
              </a:tr>
              <a:tr h="36916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Palatino Linotype" panose="02040502050505030304" pitchFamily="18" charset="0"/>
                        </a:rPr>
                        <a:t>Modified Duration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3.51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28216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257E664-5397-9AD8-EDF5-A62C6749777C}"/>
              </a:ext>
            </a:extLst>
          </p:cNvPr>
          <p:cNvSpPr txBox="1"/>
          <p:nvPr/>
        </p:nvSpPr>
        <p:spPr>
          <a:xfrm>
            <a:off x="1522686" y="3244334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>
              <a:solidFill>
                <a:schemeClr val="bg1"/>
              </a:solidFill>
              <a:latin typeface="Palatino Linotype" panose="0204050205050503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8275FAB-FEDD-1110-8219-704ADEBDF0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0170802"/>
              </p:ext>
            </p:extLst>
          </p:nvPr>
        </p:nvGraphicFramePr>
        <p:xfrm>
          <a:off x="4992676" y="4118275"/>
          <a:ext cx="3922296" cy="201748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297248">
                  <a:extLst>
                    <a:ext uri="{9D8B030D-6E8A-4147-A177-3AD203B41FA5}">
                      <a16:colId xmlns:a16="http://schemas.microsoft.com/office/drawing/2014/main" val="1358448905"/>
                    </a:ext>
                  </a:extLst>
                </a:gridCol>
                <a:gridCol w="875016">
                  <a:extLst>
                    <a:ext uri="{9D8B030D-6E8A-4147-A177-3AD203B41FA5}">
                      <a16:colId xmlns:a16="http://schemas.microsoft.com/office/drawing/2014/main" val="1466930279"/>
                    </a:ext>
                  </a:extLst>
                </a:gridCol>
                <a:gridCol w="875016">
                  <a:extLst>
                    <a:ext uri="{9D8B030D-6E8A-4147-A177-3AD203B41FA5}">
                      <a16:colId xmlns:a16="http://schemas.microsoft.com/office/drawing/2014/main" val="3556841350"/>
                    </a:ext>
                  </a:extLst>
                </a:gridCol>
                <a:gridCol w="875016">
                  <a:extLst>
                    <a:ext uri="{9D8B030D-6E8A-4147-A177-3AD203B41FA5}">
                      <a16:colId xmlns:a16="http://schemas.microsoft.com/office/drawing/2014/main" val="3179477369"/>
                    </a:ext>
                  </a:extLst>
                </a:gridCol>
              </a:tblGrid>
              <a:tr h="572113">
                <a:tc>
                  <a:txBody>
                    <a:bodyPr/>
                    <a:lstStyle/>
                    <a:p>
                      <a:pPr algn="ctr"/>
                      <a:endParaRPr lang="en-US" sz="1800">
                        <a:solidFill>
                          <a:schemeClr val="bg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bg1"/>
                          </a:solidFill>
                          <a:latin typeface="Palatino Linotype" panose="02040502050505030304" pitchFamily="18" charset="0"/>
                        </a:rPr>
                        <a:t>Bull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bg1"/>
                          </a:solidFill>
                          <a:latin typeface="Palatino Linotype" panose="02040502050505030304" pitchFamily="18" charset="0"/>
                        </a:rPr>
                        <a:t>Base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bg1"/>
                          </a:solidFill>
                          <a:latin typeface="Palatino Linotype" panose="02040502050505030304" pitchFamily="18" charset="0"/>
                        </a:rPr>
                        <a:t>Bear</a:t>
                      </a: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874052"/>
                  </a:ext>
                </a:extLst>
              </a:tr>
              <a:tr h="1445373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latin typeface="Palatino Linotype" panose="02040502050505030304" pitchFamily="18" charset="0"/>
                        </a:rPr>
                        <a:t>1Y HPR (Annualized)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Palatino Linotype" panose="02040502050505030304" pitchFamily="18" charset="0"/>
                        </a:rPr>
                        <a:t>8.78%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4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Palatino Linotype" panose="02040502050505030304" pitchFamily="18" charset="0"/>
                        </a:rPr>
                        <a:t>7.83%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Palatino Linotype" panose="02040502050505030304" pitchFamily="18" charset="0"/>
                        </a:rPr>
                        <a:t>6.63%</a:t>
                      </a: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CD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492840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6B01C09A-EE7D-0B5D-237C-A6EE1A5F293C}"/>
              </a:ext>
            </a:extLst>
          </p:cNvPr>
          <p:cNvSpPr/>
          <p:nvPr/>
        </p:nvSpPr>
        <p:spPr>
          <a:xfrm>
            <a:off x="261257" y="4150591"/>
            <a:ext cx="4310743" cy="198517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rgbClr val="C00000"/>
                </a:solidFill>
                <a:latin typeface="Palatino Linotype" panose="02040502050505030304" pitchFamily="18" charset="0"/>
              </a:rPr>
              <a:t>Thesis 2:</a:t>
            </a:r>
          </a:p>
          <a:p>
            <a:endParaRPr lang="en-US" b="1" dirty="0">
              <a:solidFill>
                <a:schemeClr val="tx1"/>
              </a:solidFill>
              <a:latin typeface="Palatino Linotype" panose="02040502050505030304" pitchFamily="18" charset="0"/>
            </a:endParaRPr>
          </a:p>
          <a:p>
            <a:r>
              <a:rPr lang="en-US" kern="0" dirty="0">
                <a:solidFill>
                  <a:schemeClr val="tx1"/>
                </a:solidFill>
                <a:latin typeface="Palatino Linotype" panose="02040502050505030304" pitchFamily="18" charset="0"/>
              </a:rPr>
              <a:t>NWL will accelerate their deleveraging as FCF and revenue prove to be an inflection point in FY25 and are expected to rebound through FY28.</a:t>
            </a:r>
            <a:endParaRPr lang="en-US" b="1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381267-A0F4-5C13-0901-E08D6F614BC8}"/>
              </a:ext>
            </a:extLst>
          </p:cNvPr>
          <p:cNvSpPr/>
          <p:nvPr/>
        </p:nvSpPr>
        <p:spPr>
          <a:xfrm>
            <a:off x="261257" y="1698666"/>
            <a:ext cx="4310743" cy="201748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>
                <a:solidFill>
                  <a:srgbClr val="C00000"/>
                </a:solidFill>
                <a:latin typeface="Palatino Linotype" panose="02040502050505030304" pitchFamily="18" charset="0"/>
              </a:rPr>
              <a:t>Thesis 1: </a:t>
            </a:r>
          </a:p>
          <a:p>
            <a:endParaRPr lang="en-US" b="1" kern="0">
              <a:solidFill>
                <a:schemeClr val="tx1"/>
              </a:solidFill>
              <a:latin typeface="Palatino Linotype" panose="02040502050505030304" pitchFamily="18" charset="0"/>
            </a:endParaRPr>
          </a:p>
          <a:p>
            <a:r>
              <a:rPr lang="en-US" kern="0">
                <a:solidFill>
                  <a:schemeClr val="tx1"/>
                </a:solidFill>
                <a:latin typeface="Palatino Linotype" panose="02040502050505030304" pitchFamily="18" charset="0"/>
                <a:ea typeface="Calibri"/>
              </a:rPr>
              <a:t>NWL’s restructuring initiatives are streamlining a fragmented operating model, leading to gains in efficiency and working capital management.</a:t>
            </a:r>
          </a:p>
          <a:p>
            <a:endParaRPr lang="en-US" b="1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98070E-7358-3632-296C-498C3655B8B6}"/>
              </a:ext>
            </a:extLst>
          </p:cNvPr>
          <p:cNvSpPr/>
          <p:nvPr/>
        </p:nvSpPr>
        <p:spPr>
          <a:xfrm>
            <a:off x="254638" y="926306"/>
            <a:ext cx="4310743" cy="551543"/>
          </a:xfrm>
          <a:prstGeom prst="rect">
            <a:avLst/>
          </a:prstGeom>
          <a:solidFill>
            <a:schemeClr val="tx1"/>
          </a:solidFill>
          <a:ln w="3175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kern="0">
                <a:solidFill>
                  <a:schemeClr val="bg1"/>
                </a:solidFill>
                <a:latin typeface="Palatino Linotype" panose="02040502050505030304" pitchFamily="18" charset="0"/>
              </a:rPr>
              <a:t>Investment Summary</a:t>
            </a:r>
          </a:p>
        </p:txBody>
      </p:sp>
      <p:sp>
        <p:nvSpPr>
          <p:cNvPr id="14" name="Title 7">
            <a:extLst>
              <a:ext uri="{FF2B5EF4-FFF2-40B4-BE49-F238E27FC236}">
                <a16:creationId xmlns:a16="http://schemas.microsoft.com/office/drawing/2014/main" id="{168C3C6F-CE4E-8B38-1CB5-BE1A4E520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042" y="268602"/>
            <a:ext cx="6497782" cy="369332"/>
          </a:xfrm>
        </p:spPr>
        <p:txBody>
          <a:bodyPr>
            <a:normAutofit fontScale="90000"/>
          </a:bodyPr>
          <a:lstStyle/>
          <a:p>
            <a:r>
              <a:rPr lang="en-US" sz="2400">
                <a:solidFill>
                  <a:srgbClr val="00B050"/>
                </a:solidFill>
                <a:latin typeface="Palatino Linotype" panose="02040502050505030304" pitchFamily="18" charset="0"/>
              </a:rPr>
              <a:t>Buy</a:t>
            </a:r>
            <a:r>
              <a:rPr lang="en-US" sz="2400">
                <a:latin typeface="Palatino Linotype" panose="02040502050505030304" pitchFamily="18" charset="0"/>
              </a:rPr>
              <a:t> NWL 6.375% 5/15/30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6D7C03-0FD1-4BA8-EF71-BEFBDA48A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2860" y="6596809"/>
            <a:ext cx="381140" cy="276159"/>
          </a:xfrm>
        </p:spPr>
        <p:txBody>
          <a:bodyPr/>
          <a:lstStyle/>
          <a:p>
            <a:fld id="{FD26A2CB-1AF5-41D7-B1FE-597F5196BBF2}" type="slidenum">
              <a:rPr lang="en-US" smtClean="0">
                <a:latin typeface="Palatino Linotype" panose="02040502050505030304" pitchFamily="18" charset="0"/>
              </a:rPr>
              <a:t>16</a:t>
            </a:fld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5C934E-BA68-28F8-A48E-481990C2706F}"/>
              </a:ext>
            </a:extLst>
          </p:cNvPr>
          <p:cNvSpPr txBox="1"/>
          <p:nvPr/>
        </p:nvSpPr>
        <p:spPr>
          <a:xfrm>
            <a:off x="6268573" y="6611779"/>
            <a:ext cx="26949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>
                <a:latin typeface="Palatino Linotype" panose="02040502050505030304" pitchFamily="18" charset="0"/>
              </a:rPr>
              <a:t>Source(s): Bloomberg, FactSet, Company Filings</a:t>
            </a:r>
          </a:p>
        </p:txBody>
      </p:sp>
    </p:spTree>
    <p:extLst>
      <p:ext uri="{BB962C8B-B14F-4D97-AF65-F5344CB8AC3E}">
        <p14:creationId xmlns:p14="http://schemas.microsoft.com/office/powerpoint/2010/main" val="9874096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BE0CBB9-B5AB-18B0-7562-60E8135311D8}"/>
              </a:ext>
            </a:extLst>
          </p:cNvPr>
          <p:cNvSpPr txBox="1"/>
          <p:nvPr/>
        </p:nvSpPr>
        <p:spPr>
          <a:xfrm>
            <a:off x="1431281" y="2905780"/>
            <a:ext cx="62814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>
                <a:latin typeface="Palatino Linotype" panose="02040502050505030304" pitchFamily="18" charset="0"/>
              </a:rPr>
              <a:t>Appendix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8D7C40-CE50-F4AA-A9F5-FED920B5E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2860" y="6596809"/>
            <a:ext cx="381140" cy="276159"/>
          </a:xfrm>
        </p:spPr>
        <p:txBody>
          <a:bodyPr/>
          <a:lstStyle/>
          <a:p>
            <a:fld id="{FD26A2CB-1AF5-41D7-B1FE-597F5196BBF2}" type="slidenum">
              <a:rPr lang="en-US" smtClean="0">
                <a:latin typeface="Palatino Linotype" panose="02040502050505030304" pitchFamily="18" charset="0"/>
              </a:rPr>
              <a:t>17</a:t>
            </a:fld>
            <a:endParaRPr lang="en-US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83288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F2B5EF4-FFF2-40B4-BE49-F238E27FC236}">
                <a16:creationId xmlns:a16="http://schemas.microsoft.com/office/drawing/2014/main" id="{AD508AEF-B059-85D8-6DFD-951E51F80FD9}"/>
              </a:ext>
            </a:extLst>
          </p:cNvPr>
          <p:cNvSpPr txBox="1">
            <a:spLocks/>
          </p:cNvSpPr>
          <p:nvPr/>
        </p:nvSpPr>
        <p:spPr>
          <a:xfrm>
            <a:off x="2129145" y="602250"/>
            <a:ext cx="4885707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1" i="0" kern="120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kern="0">
                <a:solidFill>
                  <a:schemeClr val="tx1"/>
                </a:solidFill>
                <a:latin typeface="Palatino Linotype" panose="02040502050505030304" pitchFamily="18" charset="0"/>
              </a:rPr>
              <a:t>NWL Trades Wide to Comps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CF088484-5424-DBFE-24B2-9E737465B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2860" y="6596809"/>
            <a:ext cx="381140" cy="276159"/>
          </a:xfrm>
        </p:spPr>
        <p:txBody>
          <a:bodyPr/>
          <a:lstStyle/>
          <a:p>
            <a:fld id="{FD26A2CB-1AF5-41D7-B1FE-597F5196BBF2}" type="slidenum">
              <a:rPr lang="en-US" smtClean="0">
                <a:latin typeface="Palatino Linotype" panose="02040502050505030304" pitchFamily="18" charset="0"/>
              </a:rPr>
              <a:t>18</a:t>
            </a:fld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AF5048-13EE-2D0D-9A6D-BFC398EB9912}"/>
              </a:ext>
            </a:extLst>
          </p:cNvPr>
          <p:cNvSpPr txBox="1"/>
          <p:nvPr/>
        </p:nvSpPr>
        <p:spPr>
          <a:xfrm>
            <a:off x="6268573" y="6611779"/>
            <a:ext cx="26949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>
                <a:latin typeface="Palatino Linotype" panose="02040502050505030304" pitchFamily="18" charset="0"/>
              </a:rPr>
              <a:t>Source(s): Bloomberg, FactSet, Company Filings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76DABC-A2C1-C295-ED7B-953C4134FC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6444" y="1077338"/>
            <a:ext cx="6571108" cy="5367130"/>
          </a:xfrm>
          <a:prstGeom prst="rect">
            <a:avLst/>
          </a:prstGeom>
          <a:ln w="1270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256519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7">
            <a:extLst>
              <a:ext uri="{FF2B5EF4-FFF2-40B4-BE49-F238E27FC236}">
                <a16:creationId xmlns:a16="http://schemas.microsoft.com/office/drawing/2014/main" id="{4CAB4736-21F4-46E0-5280-92D0ECD8A816}"/>
              </a:ext>
            </a:extLst>
          </p:cNvPr>
          <p:cNvSpPr txBox="1">
            <a:spLocks/>
          </p:cNvSpPr>
          <p:nvPr/>
        </p:nvSpPr>
        <p:spPr>
          <a:xfrm>
            <a:off x="2129146" y="714791"/>
            <a:ext cx="4885707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1" i="0" kern="120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kern="0">
                <a:solidFill>
                  <a:schemeClr val="tx1"/>
                </a:solidFill>
                <a:latin typeface="Palatino Linotype" panose="02040502050505030304" pitchFamily="18" charset="0"/>
              </a:rPr>
              <a:t>NWL vs ACCO 29s</a:t>
            </a:r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822D4551-6768-B35F-DB3E-E56D3DCB0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2860" y="6596809"/>
            <a:ext cx="381140" cy="276159"/>
          </a:xfrm>
        </p:spPr>
        <p:txBody>
          <a:bodyPr/>
          <a:lstStyle/>
          <a:p>
            <a:fld id="{FD26A2CB-1AF5-41D7-B1FE-597F5196BBF2}" type="slidenum">
              <a:rPr lang="en-US" smtClean="0">
                <a:latin typeface="Palatino Linotype" panose="02040502050505030304" pitchFamily="18" charset="0"/>
              </a:rPr>
              <a:t>19</a:t>
            </a:fld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AFD7AA-594C-A8C9-B9D2-94CB31110099}"/>
              </a:ext>
            </a:extLst>
          </p:cNvPr>
          <p:cNvSpPr txBox="1"/>
          <p:nvPr/>
        </p:nvSpPr>
        <p:spPr>
          <a:xfrm>
            <a:off x="6268573" y="6611779"/>
            <a:ext cx="26949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>
                <a:latin typeface="Palatino Linotype" panose="02040502050505030304" pitchFamily="18" charset="0"/>
              </a:rPr>
              <a:t>Source(s): Bloomberg, FactSet, Company Filings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957DCA-E63B-691E-6D27-0E7A239FE3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514" y="1296530"/>
            <a:ext cx="8036972" cy="4264939"/>
          </a:xfrm>
          <a:prstGeom prst="rect">
            <a:avLst/>
          </a:prstGeom>
          <a:ln w="1270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336863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7">
            <a:extLst>
              <a:ext uri="{FF2B5EF4-FFF2-40B4-BE49-F238E27FC236}">
                <a16:creationId xmlns:a16="http://schemas.microsoft.com/office/drawing/2014/main" id="{E5F92CB7-C5F4-4752-D021-7D52A057CE2C}"/>
              </a:ext>
            </a:extLst>
          </p:cNvPr>
          <p:cNvSpPr txBox="1">
            <a:spLocks/>
          </p:cNvSpPr>
          <p:nvPr/>
        </p:nvSpPr>
        <p:spPr>
          <a:xfrm>
            <a:off x="3350573" y="756994"/>
            <a:ext cx="2442854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1" i="0" kern="120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kern="0">
                <a:solidFill>
                  <a:schemeClr val="tx1"/>
                </a:solidFill>
                <a:latin typeface="Palatino Linotype" panose="02040502050505030304" pitchFamily="18" charset="0"/>
              </a:rPr>
              <a:t>NWL Issuer Curve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40392641-0610-F624-345A-B97AA855C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2860" y="6596809"/>
            <a:ext cx="381140" cy="276159"/>
          </a:xfrm>
        </p:spPr>
        <p:txBody>
          <a:bodyPr/>
          <a:lstStyle/>
          <a:p>
            <a:fld id="{FD26A2CB-1AF5-41D7-B1FE-597F5196BBF2}" type="slidenum">
              <a:rPr lang="en-US" smtClean="0">
                <a:latin typeface="Palatino Linotype" panose="02040502050505030304" pitchFamily="18" charset="0"/>
              </a:rPr>
              <a:t>20</a:t>
            </a:fld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F5CECC-E1B3-94B0-ED1D-E2A4FB5700C0}"/>
              </a:ext>
            </a:extLst>
          </p:cNvPr>
          <p:cNvSpPr txBox="1"/>
          <p:nvPr/>
        </p:nvSpPr>
        <p:spPr>
          <a:xfrm>
            <a:off x="6268573" y="6611779"/>
            <a:ext cx="26949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>
                <a:latin typeface="Palatino Linotype" panose="02040502050505030304" pitchFamily="18" charset="0"/>
              </a:rPr>
              <a:t>Source(s): Bloomberg, FactSet, Company Filings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DB448C7-1E42-F008-F207-E1D90149C0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5851" y="1456701"/>
            <a:ext cx="4712297" cy="3944598"/>
          </a:xfrm>
          <a:prstGeom prst="rect">
            <a:avLst/>
          </a:prstGeom>
          <a:ln w="1270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796136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F2B5EF4-FFF2-40B4-BE49-F238E27FC236}">
                <a16:creationId xmlns:a16="http://schemas.microsoft.com/office/drawing/2014/main" id="{0AF6E032-AF63-B5F7-F8A5-C85FA583CD91}"/>
              </a:ext>
            </a:extLst>
          </p:cNvPr>
          <p:cNvSpPr txBox="1">
            <a:spLocks/>
          </p:cNvSpPr>
          <p:nvPr/>
        </p:nvSpPr>
        <p:spPr>
          <a:xfrm>
            <a:off x="2129146" y="714791"/>
            <a:ext cx="4885707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1" i="0" kern="120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kern="0" dirty="0">
                <a:solidFill>
                  <a:schemeClr val="tx1"/>
                </a:solidFill>
                <a:latin typeface="Palatino Linotype" panose="02040502050505030304" pitchFamily="18" charset="0"/>
              </a:rPr>
              <a:t>Call Scenario 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7FD0D087-73E5-4842-D542-589BB0293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2860" y="6596809"/>
            <a:ext cx="381140" cy="276159"/>
          </a:xfrm>
        </p:spPr>
        <p:txBody>
          <a:bodyPr/>
          <a:lstStyle/>
          <a:p>
            <a:fld id="{FD26A2CB-1AF5-41D7-B1FE-597F5196BBF2}" type="slidenum">
              <a:rPr lang="en-US" smtClean="0">
                <a:latin typeface="Palatino Linotype" panose="02040502050505030304" pitchFamily="18" charset="0"/>
              </a:rPr>
              <a:t>21</a:t>
            </a:fld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9BFAD7-05C6-F88F-AFD5-A5835C176286}"/>
              </a:ext>
            </a:extLst>
          </p:cNvPr>
          <p:cNvSpPr txBox="1"/>
          <p:nvPr/>
        </p:nvSpPr>
        <p:spPr>
          <a:xfrm>
            <a:off x="6268573" y="6611779"/>
            <a:ext cx="26949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>
                <a:latin typeface="Palatino Linotype" panose="02040502050505030304" pitchFamily="18" charset="0"/>
              </a:rPr>
              <a:t>Source(s): Bloomberg, FactSet, Company Filings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F6FC41-6736-61A8-19B5-F7A675C094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373" y="1967714"/>
            <a:ext cx="6783253" cy="2922571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203663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F2B5EF4-FFF2-40B4-BE49-F238E27FC236}">
                <a16:creationId xmlns:a16="http://schemas.microsoft.com/office/drawing/2014/main" id="{9CB23F60-107E-261A-E1DE-5F973E493298}"/>
              </a:ext>
            </a:extLst>
          </p:cNvPr>
          <p:cNvSpPr txBox="1">
            <a:spLocks/>
          </p:cNvSpPr>
          <p:nvPr/>
        </p:nvSpPr>
        <p:spPr>
          <a:xfrm>
            <a:off x="2129146" y="714791"/>
            <a:ext cx="4885707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1" i="0" kern="120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kern="0">
                <a:solidFill>
                  <a:schemeClr val="tx1"/>
                </a:solidFill>
                <a:latin typeface="Palatino Linotype" panose="02040502050505030304" pitchFamily="18" charset="0"/>
              </a:rPr>
              <a:t>DDIS Screen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A7B420-1673-2FEE-0C7E-440DC6556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1718" y="1530167"/>
            <a:ext cx="3720563" cy="400473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C3026F3D-F467-305C-82F3-326300D69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2860" y="6596809"/>
            <a:ext cx="381140" cy="276159"/>
          </a:xfrm>
        </p:spPr>
        <p:txBody>
          <a:bodyPr/>
          <a:lstStyle/>
          <a:p>
            <a:fld id="{FD26A2CB-1AF5-41D7-B1FE-597F5196BBF2}" type="slidenum">
              <a:rPr lang="en-US" smtClean="0">
                <a:latin typeface="Palatino Linotype" panose="02040502050505030304" pitchFamily="18" charset="0"/>
              </a:rPr>
              <a:t>22</a:t>
            </a:fld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A3555F-719C-DFEB-13C6-723C33CFA67A}"/>
              </a:ext>
            </a:extLst>
          </p:cNvPr>
          <p:cNvSpPr txBox="1"/>
          <p:nvPr/>
        </p:nvSpPr>
        <p:spPr>
          <a:xfrm>
            <a:off x="6268573" y="6611779"/>
            <a:ext cx="26949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>
                <a:latin typeface="Palatino Linotype" panose="02040502050505030304" pitchFamily="18" charset="0"/>
              </a:rPr>
              <a:t>Source(s): Bloomberg, FactSet, Company Filings</a:t>
            </a:r>
          </a:p>
        </p:txBody>
      </p:sp>
    </p:spTree>
    <p:extLst>
      <p:ext uri="{BB962C8B-B14F-4D97-AF65-F5344CB8AC3E}">
        <p14:creationId xmlns:p14="http://schemas.microsoft.com/office/powerpoint/2010/main" val="36115955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F2B5EF4-FFF2-40B4-BE49-F238E27FC236}">
                <a16:creationId xmlns:a16="http://schemas.microsoft.com/office/drawing/2014/main" id="{20087783-ED8E-DE4D-EC1F-5B3EE71CC7EA}"/>
              </a:ext>
            </a:extLst>
          </p:cNvPr>
          <p:cNvSpPr txBox="1">
            <a:spLocks/>
          </p:cNvSpPr>
          <p:nvPr/>
        </p:nvSpPr>
        <p:spPr>
          <a:xfrm>
            <a:off x="2129146" y="714791"/>
            <a:ext cx="4885707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1" i="0" kern="120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kern="0">
                <a:solidFill>
                  <a:schemeClr val="tx1"/>
                </a:solidFill>
                <a:latin typeface="Palatino Linotype" panose="02040502050505030304" pitchFamily="18" charset="0"/>
              </a:rPr>
              <a:t>Management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BC6828-DB68-9033-0E29-794BDA46021B}"/>
              </a:ext>
            </a:extLst>
          </p:cNvPr>
          <p:cNvSpPr/>
          <p:nvPr/>
        </p:nvSpPr>
        <p:spPr>
          <a:xfrm>
            <a:off x="755086" y="1705126"/>
            <a:ext cx="7633826" cy="17238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solidFill>
                  <a:schemeClr val="tx1"/>
                </a:solidFill>
                <a:latin typeface="Palatino Linotype" panose="02040502050505030304" pitchFamily="18" charset="0"/>
              </a:rPr>
              <a:t>Chris Peterson (59)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  <a:latin typeface="Palatino Linotype" panose="02040502050505030304" pitchFamily="18" charset="0"/>
              </a:rPr>
              <a:t>Chief Executive Officer and President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  <a:latin typeface="Palatino Linotype" panose="02040502050505030304" pitchFamily="18" charset="0"/>
              </a:rPr>
              <a:t>Previous COO of Operations at Revlon Inc., and 20 years at Procter and Gamble.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  <a:latin typeface="Palatino Linotype" panose="02040502050505030304" pitchFamily="18" charset="0"/>
              </a:rPr>
              <a:t>Earned BS in Operations Research &amp; Industrial Engineering from Cornell</a:t>
            </a:r>
            <a:r>
              <a:rPr lang="en-US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7EF573-DA55-9006-34E3-5239458A72C9}"/>
              </a:ext>
            </a:extLst>
          </p:cNvPr>
          <p:cNvSpPr/>
          <p:nvPr/>
        </p:nvSpPr>
        <p:spPr>
          <a:xfrm>
            <a:off x="755084" y="3716806"/>
            <a:ext cx="7633828" cy="17238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solidFill>
                  <a:schemeClr val="tx1"/>
                </a:solidFill>
                <a:latin typeface="Palatino Linotype" panose="02040502050505030304" pitchFamily="18" charset="0"/>
              </a:rPr>
              <a:t>Mark Erceg (55)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  <a:latin typeface="Palatino Linotype" panose="02040502050505030304" pitchFamily="18" charset="0"/>
                <a:ea typeface="Calibri"/>
                <a:cs typeface="Calibri"/>
              </a:rPr>
              <a:t>Chief Financial Officer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  <a:latin typeface="Palatino Linotype" panose="02040502050505030304" pitchFamily="18" charset="0"/>
                <a:ea typeface="Calibri"/>
                <a:cs typeface="Calibri"/>
              </a:rPr>
              <a:t>10 years of prior CFO work at Tiffany &amp; Co., Canadian Pacific Rail, and Masonite International.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  <a:latin typeface="Palatino Linotype" panose="02040502050505030304" pitchFamily="18" charset="0"/>
              </a:rPr>
              <a:t>Earned BS in Accounting &amp; MBA in Finance from Indiana University.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  <a:latin typeface="Palatino Linotype" panose="02040502050505030304" pitchFamily="18" charset="0"/>
              </a:rPr>
              <a:t>CFA member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59A546-D12E-5458-8905-0ABE3E206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2860" y="6596809"/>
            <a:ext cx="381140" cy="276159"/>
          </a:xfrm>
        </p:spPr>
        <p:txBody>
          <a:bodyPr/>
          <a:lstStyle/>
          <a:p>
            <a:fld id="{FD26A2CB-1AF5-41D7-B1FE-597F5196BBF2}" type="slidenum">
              <a:rPr lang="en-US" smtClean="0">
                <a:latin typeface="Palatino Linotype" panose="02040502050505030304" pitchFamily="18" charset="0"/>
              </a:rPr>
              <a:t>23</a:t>
            </a:fld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4704C0-3A35-2CAA-9B9A-28D6404EF0A1}"/>
              </a:ext>
            </a:extLst>
          </p:cNvPr>
          <p:cNvSpPr txBox="1"/>
          <p:nvPr/>
        </p:nvSpPr>
        <p:spPr>
          <a:xfrm>
            <a:off x="6268573" y="6611779"/>
            <a:ext cx="26949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>
                <a:latin typeface="Palatino Linotype" panose="02040502050505030304" pitchFamily="18" charset="0"/>
              </a:rPr>
              <a:t>Source(s): Bloomberg, FactSet, Company Filings</a:t>
            </a:r>
          </a:p>
        </p:txBody>
      </p:sp>
    </p:spTree>
    <p:extLst>
      <p:ext uri="{BB962C8B-B14F-4D97-AF65-F5344CB8AC3E}">
        <p14:creationId xmlns:p14="http://schemas.microsoft.com/office/powerpoint/2010/main" val="35762806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F2B5EF4-FFF2-40B4-BE49-F238E27FC236}">
                <a16:creationId xmlns:a16="http://schemas.microsoft.com/office/drawing/2014/main" id="{B94CE3E3-D2B8-3431-FFA4-BB26A326132F}"/>
              </a:ext>
            </a:extLst>
          </p:cNvPr>
          <p:cNvSpPr txBox="1">
            <a:spLocks/>
          </p:cNvSpPr>
          <p:nvPr/>
        </p:nvSpPr>
        <p:spPr>
          <a:xfrm>
            <a:off x="2129145" y="620069"/>
            <a:ext cx="4885707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1" i="0" kern="120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kern="0" dirty="0">
                <a:solidFill>
                  <a:schemeClr val="tx1"/>
                </a:solidFill>
                <a:latin typeface="Palatino Linotype" panose="02040502050505030304" pitchFamily="18" charset="0"/>
              </a:rPr>
              <a:t>Management Compensation FY25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8D44176F-10C9-C0B0-F856-61289775F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2860" y="6596809"/>
            <a:ext cx="381140" cy="276159"/>
          </a:xfrm>
        </p:spPr>
        <p:txBody>
          <a:bodyPr/>
          <a:lstStyle/>
          <a:p>
            <a:fld id="{FD26A2CB-1AF5-41D7-B1FE-597F5196BBF2}" type="slidenum">
              <a:rPr lang="en-US" smtClean="0">
                <a:latin typeface="Palatino Linotype" panose="02040502050505030304" pitchFamily="18" charset="0"/>
              </a:rPr>
              <a:t>24</a:t>
            </a:fld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1F5196-8151-6619-C4AD-461344BF5C0D}"/>
              </a:ext>
            </a:extLst>
          </p:cNvPr>
          <p:cNvSpPr txBox="1"/>
          <p:nvPr/>
        </p:nvSpPr>
        <p:spPr>
          <a:xfrm>
            <a:off x="6268573" y="6611779"/>
            <a:ext cx="26949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>
                <a:latin typeface="Palatino Linotype" panose="02040502050505030304" pitchFamily="18" charset="0"/>
              </a:rPr>
              <a:t>Source(s): Bloomberg, FactSet, Company Filings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8988D31-BCB6-936A-FD3D-1361A93B6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126" y="1609471"/>
            <a:ext cx="6963747" cy="363905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464913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F2B5EF4-FFF2-40B4-BE49-F238E27FC236}">
                <a16:creationId xmlns:a16="http://schemas.microsoft.com/office/drawing/2014/main" id="{B94CE3E3-D2B8-3431-FFA4-BB26A326132F}"/>
              </a:ext>
            </a:extLst>
          </p:cNvPr>
          <p:cNvSpPr txBox="1">
            <a:spLocks/>
          </p:cNvSpPr>
          <p:nvPr/>
        </p:nvSpPr>
        <p:spPr>
          <a:xfrm>
            <a:off x="2129146" y="332150"/>
            <a:ext cx="4885707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1" i="0" kern="120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kern="0">
                <a:solidFill>
                  <a:schemeClr val="tx1"/>
                </a:solidFill>
                <a:latin typeface="Palatino Linotype" panose="02040502050505030304" pitchFamily="18" charset="0"/>
              </a:rPr>
              <a:t>Tariff Impacts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9ED1C5-1547-EA21-E49A-C8F4C61D7B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961" y="678162"/>
            <a:ext cx="5382075" cy="275083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3A42860-D359-2EB6-ADCD-E9D33A5B10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0961" y="3759881"/>
            <a:ext cx="4977359" cy="276596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8D44176F-10C9-C0B0-F856-61289775F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2860" y="6596809"/>
            <a:ext cx="381140" cy="276159"/>
          </a:xfrm>
        </p:spPr>
        <p:txBody>
          <a:bodyPr/>
          <a:lstStyle/>
          <a:p>
            <a:fld id="{FD26A2CB-1AF5-41D7-B1FE-597F5196BBF2}" type="slidenum">
              <a:rPr lang="en-US" smtClean="0">
                <a:latin typeface="Palatino Linotype" panose="02040502050505030304" pitchFamily="18" charset="0"/>
              </a:rPr>
              <a:t>25</a:t>
            </a:fld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1F5196-8151-6619-C4AD-461344BF5C0D}"/>
              </a:ext>
            </a:extLst>
          </p:cNvPr>
          <p:cNvSpPr txBox="1"/>
          <p:nvPr/>
        </p:nvSpPr>
        <p:spPr>
          <a:xfrm>
            <a:off x="6268573" y="6611779"/>
            <a:ext cx="26949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>
                <a:latin typeface="Palatino Linotype" panose="02040502050505030304" pitchFamily="18" charset="0"/>
              </a:rPr>
              <a:t>Source(s): Bloomberg, FactSet, Company Filings</a:t>
            </a:r>
          </a:p>
        </p:txBody>
      </p:sp>
    </p:spTree>
    <p:extLst>
      <p:ext uri="{BB962C8B-B14F-4D97-AF65-F5344CB8AC3E}">
        <p14:creationId xmlns:p14="http://schemas.microsoft.com/office/powerpoint/2010/main" val="28922346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F2B5EF4-FFF2-40B4-BE49-F238E27FC236}">
                <a16:creationId xmlns:a16="http://schemas.microsoft.com/office/drawing/2014/main" id="{7C821EFD-4544-ADFB-D412-576E75CE7060}"/>
              </a:ext>
            </a:extLst>
          </p:cNvPr>
          <p:cNvSpPr txBox="1">
            <a:spLocks/>
          </p:cNvSpPr>
          <p:nvPr/>
        </p:nvSpPr>
        <p:spPr>
          <a:xfrm>
            <a:off x="2202299" y="641639"/>
            <a:ext cx="4885707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1" i="0" kern="120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kern="0">
                <a:solidFill>
                  <a:schemeClr val="tx1"/>
                </a:solidFill>
                <a:latin typeface="Palatino Linotype" panose="02040502050505030304" pitchFamily="18" charset="0"/>
              </a:rPr>
              <a:t>Income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87B600-A785-EA4A-D9B4-8F9EDAFBB1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380" y="1048257"/>
            <a:ext cx="7552841" cy="2758885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0A10CDC-3935-03AB-8820-FCBFA17046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678" y="4002788"/>
            <a:ext cx="7570543" cy="1021538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B93EC9-9228-66D0-1C24-05CDEE6EEF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677" y="5263704"/>
            <a:ext cx="7570543" cy="963303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79710FA7-D570-D526-2D6B-D5E0DACD2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2860" y="6596809"/>
            <a:ext cx="381140" cy="276159"/>
          </a:xfrm>
        </p:spPr>
        <p:txBody>
          <a:bodyPr/>
          <a:lstStyle/>
          <a:p>
            <a:fld id="{FD26A2CB-1AF5-41D7-B1FE-597F5196BBF2}" type="slidenum">
              <a:rPr lang="en-US" smtClean="0">
                <a:latin typeface="Palatino Linotype" panose="02040502050505030304" pitchFamily="18" charset="0"/>
              </a:rPr>
              <a:t>26</a:t>
            </a:fld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160186-6822-EB90-455C-6A134CD3E90A}"/>
              </a:ext>
            </a:extLst>
          </p:cNvPr>
          <p:cNvSpPr txBox="1"/>
          <p:nvPr/>
        </p:nvSpPr>
        <p:spPr>
          <a:xfrm>
            <a:off x="6268573" y="6611779"/>
            <a:ext cx="26949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>
                <a:latin typeface="Palatino Linotype" panose="02040502050505030304" pitchFamily="18" charset="0"/>
              </a:rPr>
              <a:t>Source(s): Bloomberg, FactSet, Company Filings</a:t>
            </a:r>
          </a:p>
        </p:txBody>
      </p:sp>
    </p:spTree>
    <p:extLst>
      <p:ext uri="{BB962C8B-B14F-4D97-AF65-F5344CB8AC3E}">
        <p14:creationId xmlns:p14="http://schemas.microsoft.com/office/powerpoint/2010/main" val="39120253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F2B5EF4-FFF2-40B4-BE49-F238E27FC236}">
                <a16:creationId xmlns:a16="http://schemas.microsoft.com/office/drawing/2014/main" id="{08EEA4B1-EDC7-DCBD-F708-E0690DC7BCD5}"/>
              </a:ext>
            </a:extLst>
          </p:cNvPr>
          <p:cNvSpPr txBox="1">
            <a:spLocks/>
          </p:cNvSpPr>
          <p:nvPr/>
        </p:nvSpPr>
        <p:spPr>
          <a:xfrm>
            <a:off x="2129146" y="714791"/>
            <a:ext cx="4885707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1" i="0" kern="120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kern="0">
                <a:solidFill>
                  <a:schemeClr val="tx1"/>
                </a:solidFill>
                <a:latin typeface="Palatino Linotype" panose="02040502050505030304" pitchFamily="18" charset="0"/>
              </a:rPr>
              <a:t>Cash Flow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4E6DD4-A1EC-C160-1783-3E7BA58423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4673" y="1229527"/>
            <a:ext cx="5414653" cy="4913682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22A4E88F-1EAF-6695-D604-34DB111AF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2860" y="6596809"/>
            <a:ext cx="381140" cy="276159"/>
          </a:xfrm>
        </p:spPr>
        <p:txBody>
          <a:bodyPr/>
          <a:lstStyle/>
          <a:p>
            <a:fld id="{FD26A2CB-1AF5-41D7-B1FE-597F5196BBF2}" type="slidenum">
              <a:rPr lang="en-US" smtClean="0">
                <a:latin typeface="Palatino Linotype" panose="02040502050505030304" pitchFamily="18" charset="0"/>
              </a:rPr>
              <a:t>27</a:t>
            </a:fld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59FEA6-1ED8-20DF-6F29-89A2FC3437A7}"/>
              </a:ext>
            </a:extLst>
          </p:cNvPr>
          <p:cNvSpPr txBox="1"/>
          <p:nvPr/>
        </p:nvSpPr>
        <p:spPr>
          <a:xfrm>
            <a:off x="6268573" y="6611779"/>
            <a:ext cx="26949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>
                <a:latin typeface="Palatino Linotype" panose="02040502050505030304" pitchFamily="18" charset="0"/>
              </a:rPr>
              <a:t>Source(s): Bloomberg, FactSet, Company Filings</a:t>
            </a:r>
          </a:p>
        </p:txBody>
      </p:sp>
    </p:spTree>
    <p:extLst>
      <p:ext uri="{BB962C8B-B14F-4D97-AF65-F5344CB8AC3E}">
        <p14:creationId xmlns:p14="http://schemas.microsoft.com/office/powerpoint/2010/main" val="33964629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F2B5EF4-FFF2-40B4-BE49-F238E27FC236}">
                <a16:creationId xmlns:a16="http://schemas.microsoft.com/office/drawing/2014/main" id="{9360BC6A-4FED-EE8A-2986-A16ED1AD2650}"/>
              </a:ext>
            </a:extLst>
          </p:cNvPr>
          <p:cNvSpPr txBox="1">
            <a:spLocks/>
          </p:cNvSpPr>
          <p:nvPr/>
        </p:nvSpPr>
        <p:spPr>
          <a:xfrm>
            <a:off x="2129146" y="714791"/>
            <a:ext cx="4885707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1" i="0" kern="120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kern="0">
                <a:solidFill>
                  <a:schemeClr val="tx1"/>
                </a:solidFill>
                <a:latin typeface="Palatino Linotype" panose="02040502050505030304" pitchFamily="18" charset="0"/>
              </a:rPr>
              <a:t>Balance Sheet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944874-594F-E9C7-0A37-7E6571E603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144905"/>
            <a:ext cx="5943600" cy="4568190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2E777B35-0A5D-135C-0813-7DD45778C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2860" y="6596809"/>
            <a:ext cx="381140" cy="276159"/>
          </a:xfrm>
        </p:spPr>
        <p:txBody>
          <a:bodyPr/>
          <a:lstStyle/>
          <a:p>
            <a:fld id="{FD26A2CB-1AF5-41D7-B1FE-597F5196BBF2}" type="slidenum">
              <a:rPr lang="en-US" smtClean="0">
                <a:latin typeface="Palatino Linotype" panose="02040502050505030304" pitchFamily="18" charset="0"/>
              </a:rPr>
              <a:t>28</a:t>
            </a:fld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C4221A-2EC4-5275-9057-25C6F9324300}"/>
              </a:ext>
            </a:extLst>
          </p:cNvPr>
          <p:cNvSpPr txBox="1"/>
          <p:nvPr/>
        </p:nvSpPr>
        <p:spPr>
          <a:xfrm>
            <a:off x="6268573" y="6611779"/>
            <a:ext cx="26949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>
                <a:latin typeface="Palatino Linotype" panose="02040502050505030304" pitchFamily="18" charset="0"/>
              </a:rPr>
              <a:t>Source(s): Bloomberg, FactSet, Company Filings</a:t>
            </a:r>
          </a:p>
        </p:txBody>
      </p:sp>
    </p:spTree>
    <p:extLst>
      <p:ext uri="{BB962C8B-B14F-4D97-AF65-F5344CB8AC3E}">
        <p14:creationId xmlns:p14="http://schemas.microsoft.com/office/powerpoint/2010/main" val="15250865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F2B5EF4-FFF2-40B4-BE49-F238E27FC236}">
                <a16:creationId xmlns:a16="http://schemas.microsoft.com/office/drawing/2014/main" id="{A27C5A9F-341A-C57C-3A8D-BEEB0FF5190B}"/>
              </a:ext>
            </a:extLst>
          </p:cNvPr>
          <p:cNvSpPr txBox="1">
            <a:spLocks/>
          </p:cNvSpPr>
          <p:nvPr/>
        </p:nvSpPr>
        <p:spPr>
          <a:xfrm>
            <a:off x="2129146" y="714791"/>
            <a:ext cx="4885707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1" i="0" kern="120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kern="0">
                <a:solidFill>
                  <a:schemeClr val="tx1"/>
                </a:solidFill>
                <a:latin typeface="Palatino Linotype" panose="02040502050505030304" pitchFamily="18" charset="0"/>
              </a:rPr>
              <a:t>Liquidity Model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60BF6A-4254-F172-1E98-26610F0F42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4220" y="2610802"/>
            <a:ext cx="6735557" cy="1636395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4BE844C8-5BFD-4DAD-51CC-4093C943B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2860" y="6596809"/>
            <a:ext cx="381140" cy="276159"/>
          </a:xfrm>
        </p:spPr>
        <p:txBody>
          <a:bodyPr/>
          <a:lstStyle/>
          <a:p>
            <a:fld id="{FD26A2CB-1AF5-41D7-B1FE-597F5196BBF2}" type="slidenum">
              <a:rPr lang="en-US" smtClean="0">
                <a:latin typeface="Palatino Linotype" panose="02040502050505030304" pitchFamily="18" charset="0"/>
              </a:rPr>
              <a:t>29</a:t>
            </a:fld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B6ECD2-8902-1383-A9C7-C33E3FE29107}"/>
              </a:ext>
            </a:extLst>
          </p:cNvPr>
          <p:cNvSpPr txBox="1"/>
          <p:nvPr/>
        </p:nvSpPr>
        <p:spPr>
          <a:xfrm>
            <a:off x="6268573" y="6611779"/>
            <a:ext cx="26949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>
                <a:latin typeface="Palatino Linotype" panose="02040502050505030304" pitchFamily="18" charset="0"/>
              </a:rPr>
              <a:t>Source(s): Bloomberg, FactSet, Company Filings</a:t>
            </a:r>
          </a:p>
        </p:txBody>
      </p:sp>
    </p:spTree>
    <p:extLst>
      <p:ext uri="{BB962C8B-B14F-4D97-AF65-F5344CB8AC3E}">
        <p14:creationId xmlns:p14="http://schemas.microsoft.com/office/powerpoint/2010/main" val="5073616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F2B5EF4-FFF2-40B4-BE49-F238E27FC236}">
                <a16:creationId xmlns:a16="http://schemas.microsoft.com/office/drawing/2014/main" id="{9988C143-C485-B4F1-6A7A-EA368E678241}"/>
              </a:ext>
            </a:extLst>
          </p:cNvPr>
          <p:cNvSpPr txBox="1">
            <a:spLocks/>
          </p:cNvSpPr>
          <p:nvPr/>
        </p:nvSpPr>
        <p:spPr>
          <a:xfrm>
            <a:off x="2129146" y="714791"/>
            <a:ext cx="4885707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1" i="0" kern="120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kern="0">
                <a:solidFill>
                  <a:schemeClr val="tx1"/>
                </a:solidFill>
                <a:latin typeface="Palatino Linotype" panose="02040502050505030304" pitchFamily="18" charset="0"/>
              </a:rPr>
              <a:t>Capital Structure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178D55-447D-AD11-740E-C2BB033576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224915"/>
            <a:ext cx="5943600" cy="4408170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269946BF-3502-7F42-6208-A176D56B1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2860" y="6596809"/>
            <a:ext cx="381140" cy="276159"/>
          </a:xfrm>
        </p:spPr>
        <p:txBody>
          <a:bodyPr/>
          <a:lstStyle/>
          <a:p>
            <a:fld id="{FD26A2CB-1AF5-41D7-B1FE-597F5196BBF2}" type="slidenum">
              <a:rPr lang="en-US" smtClean="0">
                <a:latin typeface="Palatino Linotype" panose="02040502050505030304" pitchFamily="18" charset="0"/>
              </a:rPr>
              <a:t>30</a:t>
            </a:fld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17B084-7702-D1CE-764D-4C69DD280122}"/>
              </a:ext>
            </a:extLst>
          </p:cNvPr>
          <p:cNvSpPr txBox="1"/>
          <p:nvPr/>
        </p:nvSpPr>
        <p:spPr>
          <a:xfrm>
            <a:off x="6268573" y="6611779"/>
            <a:ext cx="26949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>
                <a:latin typeface="Palatino Linotype" panose="02040502050505030304" pitchFamily="18" charset="0"/>
              </a:rPr>
              <a:t>Source(s): Bloomberg, FactSet, Company Filings</a:t>
            </a:r>
          </a:p>
        </p:txBody>
      </p:sp>
    </p:spTree>
    <p:extLst>
      <p:ext uri="{BB962C8B-B14F-4D97-AF65-F5344CB8AC3E}">
        <p14:creationId xmlns:p14="http://schemas.microsoft.com/office/powerpoint/2010/main" val="17614561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F2B5EF4-FFF2-40B4-BE49-F238E27FC236}">
                <a16:creationId xmlns:a16="http://schemas.microsoft.com/office/drawing/2014/main" id="{0E02C4E4-57CF-2A38-5A55-496EAAE53329}"/>
              </a:ext>
            </a:extLst>
          </p:cNvPr>
          <p:cNvSpPr txBox="1">
            <a:spLocks/>
          </p:cNvSpPr>
          <p:nvPr/>
        </p:nvSpPr>
        <p:spPr>
          <a:xfrm>
            <a:off x="2129146" y="714791"/>
            <a:ext cx="4885707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1" i="0" kern="120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kern="0">
                <a:solidFill>
                  <a:schemeClr val="tx1"/>
                </a:solidFill>
                <a:latin typeface="Palatino Linotype" panose="02040502050505030304" pitchFamily="18" charset="0"/>
              </a:rPr>
              <a:t>Credit Statistics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4CB00B-5E8F-C1B5-082C-7051733386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100" y="2719615"/>
            <a:ext cx="7885799" cy="1418770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5ABFB366-6E6A-7557-3B10-F3EC957D5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2860" y="6596809"/>
            <a:ext cx="381140" cy="276159"/>
          </a:xfrm>
        </p:spPr>
        <p:txBody>
          <a:bodyPr/>
          <a:lstStyle/>
          <a:p>
            <a:fld id="{FD26A2CB-1AF5-41D7-B1FE-597F5196BBF2}" type="slidenum">
              <a:rPr lang="en-US" smtClean="0">
                <a:latin typeface="Palatino Linotype" panose="02040502050505030304" pitchFamily="18" charset="0"/>
              </a:rPr>
              <a:t>31</a:t>
            </a:fld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65A57A-CCE0-0297-14A0-EFAABB4F3B91}"/>
              </a:ext>
            </a:extLst>
          </p:cNvPr>
          <p:cNvSpPr txBox="1"/>
          <p:nvPr/>
        </p:nvSpPr>
        <p:spPr>
          <a:xfrm>
            <a:off x="6268573" y="6611779"/>
            <a:ext cx="26949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>
                <a:latin typeface="Palatino Linotype" panose="02040502050505030304" pitchFamily="18" charset="0"/>
              </a:rPr>
              <a:t>Source(s): Bloomberg, FactSet, Company Filings</a:t>
            </a:r>
          </a:p>
        </p:txBody>
      </p:sp>
    </p:spTree>
    <p:extLst>
      <p:ext uri="{BB962C8B-B14F-4D97-AF65-F5344CB8AC3E}">
        <p14:creationId xmlns:p14="http://schemas.microsoft.com/office/powerpoint/2010/main" val="371071116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FSPANMODE" val="span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FSPANMODE" val="span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</TotalTime>
  <Words>1992</Words>
  <Application>Microsoft Office PowerPoint</Application>
  <PresentationFormat>On-screen Show (4:3)</PresentationFormat>
  <Paragraphs>382</Paragraphs>
  <Slides>31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Aptos</vt:lpstr>
      <vt:lpstr>Aptos Display</vt:lpstr>
      <vt:lpstr>Arial</vt:lpstr>
      <vt:lpstr>Palatino Linotype</vt:lpstr>
      <vt:lpstr>Times New Roman</vt:lpstr>
      <vt:lpstr>Office Theme</vt:lpstr>
      <vt:lpstr>Newell Brands (NWL)</vt:lpstr>
      <vt:lpstr>Buy NWL 6.375% 5/15/30</vt:lpstr>
      <vt:lpstr>Company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Buy NWL 6.375% 5/15/30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 McCartney</dc:creator>
  <cp:lastModifiedBy>MAXWELL George MCCARTNEY</cp:lastModifiedBy>
  <cp:revision>1</cp:revision>
  <dcterms:created xsi:type="dcterms:W3CDTF">2026-03-10T19:57:13Z</dcterms:created>
  <dcterms:modified xsi:type="dcterms:W3CDTF">2026-04-01T18:11:33Z</dcterms:modified>
</cp:coreProperties>
</file>